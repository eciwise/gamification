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diagramas de secuencia que muestran los flujos más importantes del Gamification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 asignación de puntos es el más importante. Combina idempotencia, CQRS, DDD y Outbox Pattern en un único flujo transaccional.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 consulta usa Cache-Aside: primero Redis, si miss va a PostgreSQL y actualiza el cache. El ranking fue pre-calculado por el RankingJob.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RankingJob corre en background cada 24 horas. Calcula el Top 100, lo persiste en PostgreSQL e invalida el cache de Redis.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OutboxWorker garantiza at-least-once delivery. Si RabbitMQ no está disponible, los eventos se reintentan hasta 5 veces.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idempotencia es crítica en sistemas de mensajería. El IdempotencyKey es determinístico: el mismo evento siempre genera la misma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flujos cubren los casos de uso principales. El patrón Outbox + Idempotencia garantiza consistencia en un sistema distribuido.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Secuencia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interacción entre componentes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 Gamificación | EciWise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flujos clave: Assign Points • Get Ranking • Ranking Job • Outbox Worker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1: Asignación de Puntos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LessonCompleted → AssignPointsCommand → PostgreSQL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463040"/>
            <a:ext cx="0" cy="342900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7160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03120" y="1463040"/>
            <a:ext cx="0" cy="3429000"/>
          </a:xfrm>
          <a:prstGeom prst="line">
            <a:avLst/>
          </a:prstGeom>
          <a:noFill/>
          <a:ln w="12700">
            <a:solidFill>
              <a:srgbClr val="6D2E4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65176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(MediatR)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0" cy="342900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93192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0" cy="342900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21208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UserGamif.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0" cy="34290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9224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(EF Core)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2376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77240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50392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22960" y="1600200"/>
            <a:ext cx="128016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13990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1389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LessonCompleted event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03120" y="1828800"/>
            <a:ext cx="320040" cy="0"/>
          </a:xfrm>
          <a:prstGeom prst="line">
            <a:avLst/>
          </a:prstGeom>
          <a:noFill/>
          <a:ln w="15240">
            <a:solidFill>
              <a:srgbClr val="6D2E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1828800"/>
            <a:ext cx="0" cy="137160"/>
          </a:xfrm>
          <a:prstGeom prst="line">
            <a:avLst/>
          </a:prstGeom>
          <a:noFill/>
          <a:ln w="15240">
            <a:solidFill>
              <a:srgbClr val="6D2E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1965960"/>
            <a:ext cx="320040" cy="0"/>
          </a:xfrm>
          <a:prstGeom prst="line">
            <a:avLst/>
          </a:prstGeom>
          <a:noFill/>
          <a:ln w="15240">
            <a:solidFill>
              <a:srgbClr val="6D2E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1719072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EAF4FB"/>
          </a:solidFill>
          <a:ln/>
        </p:spPr>
      </p:sp>
      <p:sp>
        <p:nvSpPr>
          <p:cNvPr id="33" name="Text 31"/>
          <p:cNvSpPr/>
          <p:nvPr/>
        </p:nvSpPr>
        <p:spPr>
          <a:xfrm>
            <a:off x="2432304" y="170992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processed_events (idempotency)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03120" y="2011680"/>
            <a:ext cx="12801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0" y="18105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0" y="18013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Send(AssignPointsCommand)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83280" y="2240280"/>
            <a:ext cx="128016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20391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108960" y="2029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Handle(command)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2468880"/>
            <a:ext cx="256032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22677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2258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GetByUserIdAsync(userId)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223760" y="2697480"/>
            <a:ext cx="128016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0" y="24963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949440" y="2487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user_gamification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223760" y="2926080"/>
            <a:ext cx="128016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949440" y="27249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0" y="2715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 entity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63440" y="3154680"/>
            <a:ext cx="1280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9120" y="29535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389120" y="29443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AddPoints(transaction)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943600" y="3383280"/>
            <a:ext cx="32004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3640" y="3383280"/>
            <a:ext cx="0" cy="13716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0" y="3520440"/>
            <a:ext cx="32004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3273552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EAF4FB"/>
          </a:solidFill>
          <a:ln/>
        </p:spPr>
      </p:sp>
      <p:sp>
        <p:nvSpPr>
          <p:cNvPr id="56" name="Text 54"/>
          <p:cNvSpPr/>
          <p:nvPr/>
        </p:nvSpPr>
        <p:spPr>
          <a:xfrm>
            <a:off x="6272784" y="326440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PointsAddedEvent → outbox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663440" y="3611880"/>
            <a:ext cx="256032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0" y="34107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029200" y="3401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SaveAsync(userGamification)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223760" y="3840480"/>
            <a:ext cx="128016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49440" y="36393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949440" y="3630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point_transaction + outbox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223760" y="4069080"/>
            <a:ext cx="1280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6949440" y="38679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6949440" y="3858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:ok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22960" y="4297680"/>
            <a:ext cx="128016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548640" y="40965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40873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BasicAck (message consumed)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2: Consulta de Ranking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/api/gamification/users/{userId}/ranking → Cache → DB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(Browser/App)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0" cy="342900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5448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Gamif.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0" y="1463040"/>
            <a:ext cx="0" cy="342900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83464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1463040"/>
            <a:ext cx="0" cy="342900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11480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0" cy="3429000"/>
          </a:xfrm>
          <a:prstGeom prst="line">
            <a:avLst/>
          </a:prstGeom>
          <a:noFill/>
          <a:ln w="12700">
            <a:solidFill>
              <a:srgbClr val="6D2E4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39496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CC00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1463040"/>
            <a:ext cx="0" cy="3429000"/>
          </a:xfrm>
          <a:prstGeom prst="line">
            <a:avLst/>
          </a:prstGeom>
          <a:noFill/>
          <a:ln w="12700">
            <a:solidFill>
              <a:srgbClr val="CC000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67512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0664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95528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8680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4400" y="1600200"/>
            <a:ext cx="1371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13990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1389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/api/.../ranking?type=...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286000" y="1828800"/>
            <a:ext cx="12801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0" y="16276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0" y="1618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Send(GetUserRankingQuery)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566160" y="2057400"/>
            <a:ext cx="1280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18562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18470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Handle(query)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46320" y="2286000"/>
            <a:ext cx="128016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20848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20756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GetTopRankingsAsync(type)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46320" y="2514600"/>
            <a:ext cx="128016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572000" y="23134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23042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(cache miss)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2743200"/>
            <a:ext cx="256032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25420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2532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GetCurrentAsync(type, subjectCode)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406640" y="2971800"/>
            <a:ext cx="128016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0" y="27706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132320" y="2761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rankings + ranking_entries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406640" y="3200400"/>
            <a:ext cx="128016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7132320" y="29992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29900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aggregate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846320" y="3429000"/>
            <a:ext cx="128016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32278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0" y="32186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SetTopRankingsAsync (refresh cache)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566160" y="3657600"/>
            <a:ext cx="1280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3291840" y="34564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291840" y="34472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ranking.GetUserPosition(userId)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286000" y="3886200"/>
            <a:ext cx="128016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2011680" y="36850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2011680" y="3675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UserRankingDto {position, score}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14400" y="4114800"/>
            <a:ext cx="1371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685800" y="391363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{ userId, position, score }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337560" y="2395728"/>
            <a:ext cx="2926080" cy="1143000"/>
          </a:xfrm>
          <a:prstGeom prst="roundRect">
            <a:avLst>
              <a:gd name="adj" fmla="val 4800"/>
            </a:avLst>
          </a:prstGeom>
          <a:solidFill>
            <a:srgbClr val="FFF9C4"/>
          </a:solidFill>
          <a:ln/>
        </p:spPr>
      </p:sp>
      <p:sp>
        <p:nvSpPr>
          <p:cNvPr id="63" name="Text 61"/>
          <p:cNvSpPr/>
          <p:nvPr/>
        </p:nvSpPr>
        <p:spPr>
          <a:xfrm>
            <a:off x="3383280" y="240487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27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[cache miss]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383280" y="443484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[cache hit]: retorna directo sin ir a DB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3: RankingJob (Background Service)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periódico de rankings — cada 24 horas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RankingJob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(BG Service)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0" cy="34290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2880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3192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(Aggregate)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0" y="1463040"/>
            <a:ext cx="0" cy="342900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94360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7512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31520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CC00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46720" y="1463040"/>
            <a:ext cx="0" cy="3429000"/>
          </a:xfrm>
          <a:prstGeom prst="line">
            <a:avLst/>
          </a:prstGeom>
          <a:noFill/>
          <a:ln w="12700">
            <a:solidFill>
              <a:srgbClr val="CC000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097280" y="1600200"/>
            <a:ext cx="32004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1600200"/>
            <a:ext cx="0" cy="13716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1737360"/>
            <a:ext cx="32004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1490472"/>
            <a:ext cx="2743200" cy="164592"/>
          </a:xfrm>
          <a:prstGeom prst="roundRect">
            <a:avLst>
              <a:gd name="adj" fmla="val 22222"/>
            </a:avLst>
          </a:prstGeom>
          <a:solidFill>
            <a:srgbClr val="EAF4FB"/>
          </a:solidFill>
          <a:ln/>
        </p:spPr>
      </p:sp>
      <p:sp>
        <p:nvSpPr>
          <p:cNvPr id="27" name="Text 25"/>
          <p:cNvSpPr/>
          <p:nvPr/>
        </p:nvSpPr>
        <p:spPr>
          <a:xfrm>
            <a:off x="1426464" y="148132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ExecuteAsync() — cada 24h Timer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97280" y="1920240"/>
            <a:ext cx="146304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17190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1709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Top 100 users by TotalPoints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560320" y="2148840"/>
            <a:ext cx="137160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19476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331720" y="1938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100 user_gamification ORDER BY points DESC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0" y="2377440"/>
            <a:ext cx="137160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331720" y="21762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331720" y="2167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List&lt;UserRankingData&gt;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97280" y="2606040"/>
            <a:ext cx="420624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24048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Ranking(GlobalPorPuntos, period)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97280" y="2834640"/>
            <a:ext cx="420624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26334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0" y="26243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ranking.Recalculate(userData)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303520" y="3063240"/>
            <a:ext cx="320040" cy="0"/>
          </a:xfrm>
          <a:prstGeom prst="line">
            <a:avLst/>
          </a:prstGeom>
          <a:noFill/>
          <a:ln w="1524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23560" y="3063240"/>
            <a:ext cx="0" cy="137160"/>
          </a:xfrm>
          <a:prstGeom prst="line">
            <a:avLst/>
          </a:prstGeom>
          <a:noFill/>
          <a:ln w="15240">
            <a:solidFill>
              <a:srgbClr val="2129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03520" y="3200400"/>
            <a:ext cx="320040" cy="0"/>
          </a:xfrm>
          <a:prstGeom prst="line">
            <a:avLst/>
          </a:prstGeom>
          <a:noFill/>
          <a:ln w="15240">
            <a:solidFill>
              <a:srgbClr val="2129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23560" y="2953512"/>
            <a:ext cx="2743200" cy="164592"/>
          </a:xfrm>
          <a:prstGeom prst="roundRect">
            <a:avLst>
              <a:gd name="adj" fmla="val 22222"/>
            </a:avLst>
          </a:prstGeom>
          <a:solidFill>
            <a:srgbClr val="EAF4FB"/>
          </a:solidFill>
          <a:ln/>
        </p:spPr>
      </p:sp>
      <p:sp>
        <p:nvSpPr>
          <p:cNvPr id="47" name="Text 45"/>
          <p:cNvSpPr/>
          <p:nvPr/>
        </p:nvSpPr>
        <p:spPr>
          <a:xfrm>
            <a:off x="5632704" y="2944368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RankingEntry para cada usuario con posición y score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097280" y="3383280"/>
            <a:ext cx="557784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71800" y="31821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971800" y="3172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SaveAsync(ranking)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931920" y="3611880"/>
            <a:ext cx="274320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89120" y="34107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389120" y="3401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rankings + ranking_entries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931920" y="3840480"/>
            <a:ext cx="2743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389120" y="36393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389120" y="3630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:ok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97280" y="4069080"/>
            <a:ext cx="694944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0" y="38679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0" y="3858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InvalidateRankingAsync(GlobalPorPuntos)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097280" y="4297680"/>
            <a:ext cx="694944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3657600" y="40965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0" y="40873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:invalidated (próxima lectura irá a DB)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4: OutboxWorker — Publicación de Eventos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entrega de eventos de dominio via Outbox Pattern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0" cy="3429000"/>
          </a:xfrm>
          <a:prstGeom prst="line">
            <a:avLst/>
          </a:prstGeom>
          <a:noFill/>
          <a:ln w="12700">
            <a:solidFill>
              <a:srgbClr val="6D2E4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5448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92608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(outbox table)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0" y="1463040"/>
            <a:ext cx="0" cy="3429000"/>
          </a:xfrm>
          <a:prstGeom prst="line">
            <a:avLst/>
          </a:prstGeom>
          <a:noFill/>
          <a:ln w="12700">
            <a:solidFill>
              <a:srgbClr val="33679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48056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0" y="1463040"/>
            <a:ext cx="0" cy="342900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85216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0" y="1463040"/>
            <a:ext cx="0" cy="342900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223760" y="10515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955280" y="1463040"/>
            <a:ext cx="0" cy="342900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14400" y="1600200"/>
            <a:ext cx="320040" cy="0"/>
          </a:xfrm>
          <a:prstGeom prst="line">
            <a:avLst/>
          </a:prstGeom>
          <a:noFill/>
          <a:ln w="15240">
            <a:solidFill>
              <a:srgbClr val="6D2E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4440" y="1600200"/>
            <a:ext cx="0" cy="137160"/>
          </a:xfrm>
          <a:prstGeom prst="line">
            <a:avLst/>
          </a:prstGeom>
          <a:noFill/>
          <a:ln w="15240">
            <a:solidFill>
              <a:srgbClr val="6D2E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1737360"/>
            <a:ext cx="320040" cy="0"/>
          </a:xfrm>
          <a:prstGeom prst="line">
            <a:avLst/>
          </a:prstGeom>
          <a:noFill/>
          <a:ln w="15240">
            <a:solidFill>
              <a:srgbClr val="6D2E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1490472"/>
            <a:ext cx="2560320" cy="164592"/>
          </a:xfrm>
          <a:prstGeom prst="roundRect">
            <a:avLst>
              <a:gd name="adj" fmla="val 22222"/>
            </a:avLst>
          </a:prstGeom>
          <a:solidFill>
            <a:srgbClr val="EAF4FB"/>
          </a:solidFill>
          <a:ln/>
        </p:spPr>
      </p:sp>
      <p:sp>
        <p:nvSpPr>
          <p:cNvPr id="27" name="Text 25"/>
          <p:cNvSpPr/>
          <p:nvPr/>
        </p:nvSpPr>
        <p:spPr>
          <a:xfrm>
            <a:off x="1243584" y="1481328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ExecuteAsync() — cada 5 segundos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914400" y="1920240"/>
            <a:ext cx="137160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17190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1709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pending events (ProcessedAt IS NULL, RetryCount &lt; 5)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86000" y="2148840"/>
            <a:ext cx="137160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57400" y="19476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057400" y="19385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outbox WHERE processedAt IS NULL LIMIT 20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0" y="2377440"/>
            <a:ext cx="137160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057400" y="21762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057400" y="2167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List&lt;OutboxEvent&gt;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14400" y="2606040"/>
            <a:ext cx="429768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48840" y="24048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148840" y="2395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PublishAsync(exchange, routingKey, event)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212080" y="2834640"/>
            <a:ext cx="137160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83480" y="26334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26243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BasicPublish (AMQP)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583680" y="3063240"/>
            <a:ext cx="1371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286207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event (PointsAdded / AchievementUnlocked / LevelUp)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14400" y="3383280"/>
            <a:ext cx="137160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31821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3172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processedAt = DateTime.UtcNow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286000" y="3611880"/>
            <a:ext cx="1371600" cy="0"/>
          </a:xfrm>
          <a:prstGeom prst="line">
            <a:avLst/>
          </a:prstGeom>
          <a:noFill/>
          <a:ln w="19050">
            <a:solidFill>
              <a:srgbClr val="33679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57400" y="34107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2057400" y="3401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outbox SET processedAt = now()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286000" y="384048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2057400" y="3639312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2057400" y="3630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:ok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28600" y="411480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41330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de falla al publicar: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437083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RetryCount++ → Si RetryCount &lt; 5: el evento se reintentará en el próximo ciclo (5 segundos). Si RetryCount &gt;= 5: el evento queda en outbox sin publicar (dead-letter manual).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Idempotencia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Processing con IdempotencyKey y ProcessedEvents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384048"/>
          </a:xfrm>
          <a:prstGeom prst="roundRect">
            <a:avLst>
              <a:gd name="adj" fmla="val 28571"/>
            </a:avLst>
          </a:prstGeom>
          <a:solidFill>
            <a:srgbClr val="6D2E4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89888"/>
            <a:ext cx="416052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Idempotencia?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86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garantiza at-least-once delivery: un mensaje puede llegar más de una vez si: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conexión se interrumpe antes del BasicAck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consumer cae después de procesar pero antes de confirmar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retry automático del broker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idempotencia: un usuario podría recibir puntos duplicados.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88620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AF4F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319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IdempotencyKey = sourceEventId + "-" + actionType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'3f2a-...-sourceId-TutoriaCompletada' — único por evento y acción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97280"/>
            <a:ext cx="4160520" cy="384048"/>
          </a:xfrm>
          <a:prstGeom prst="roundRect">
            <a:avLst>
              <a:gd name="adj" fmla="val 28571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389888"/>
            <a:ext cx="416052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Verificación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572768"/>
            <a:ext cx="388620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864608" y="1627632"/>
            <a:ext cx="274320" cy="27432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627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93792" y="1645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recibido de RabbitMQ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388620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4608" y="2066544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066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93792" y="2084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IdempotencyKey = eventId + actionType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2450592"/>
            <a:ext cx="388620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64608" y="2505456"/>
            <a:ext cx="274320" cy="274320"/>
          </a:xfrm>
          <a:prstGeom prst="ellipse">
            <a:avLst/>
          </a:prstGeom>
          <a:solidFill>
            <a:srgbClr val="336791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505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93792" y="25237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tabla processed_events WHERE eventId = key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889504"/>
            <a:ext cx="3886200" cy="384048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/>
        </p:spPr>
      </p:sp>
      <p:sp>
        <p:nvSpPr>
          <p:cNvPr id="30" name="Shape 28"/>
          <p:cNvSpPr/>
          <p:nvPr/>
        </p:nvSpPr>
        <p:spPr>
          <a:xfrm>
            <a:off x="4864608" y="2944368"/>
            <a:ext cx="274320" cy="27432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2944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93792" y="29626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→ BasicAck (duplicado ignorado, ya procesado)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328416"/>
            <a:ext cx="3886200" cy="384048"/>
          </a:xfrm>
          <a:prstGeom prst="roundRect">
            <a:avLst>
              <a:gd name="adj" fmla="val 14286"/>
            </a:avLst>
          </a:prstGeom>
          <a:solidFill>
            <a:srgbClr val="F0FFF4"/>
          </a:solidFill>
          <a:ln/>
        </p:spPr>
      </p:sp>
      <p:sp>
        <p:nvSpPr>
          <p:cNvPr id="34" name="Shape 32"/>
          <p:cNvSpPr/>
          <p:nvPr/>
        </p:nvSpPr>
        <p:spPr>
          <a:xfrm>
            <a:off x="4864608" y="33832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93792" y="3401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→ Procesar AssignPointsCommand normalmente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767328"/>
            <a:ext cx="388620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38" name="Shape 36"/>
          <p:cNvSpPr/>
          <p:nvPr/>
        </p:nvSpPr>
        <p:spPr>
          <a:xfrm>
            <a:off x="4864608" y="382219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93792" y="3840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processed_events (idempotencyKey)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4206240"/>
            <a:ext cx="3886200" cy="384048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/>
        </p:spPr>
      </p:sp>
      <p:sp>
        <p:nvSpPr>
          <p:cNvPr id="42" name="Shape 40"/>
          <p:cNvSpPr/>
          <p:nvPr/>
        </p:nvSpPr>
        <p:spPr>
          <a:xfrm>
            <a:off x="4864608" y="4261104"/>
            <a:ext cx="274320" cy="27432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93792" y="42793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BasicAck (mensaje confirmado y eliminado de la cola)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Diagramas de Secuencia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1: Assign Points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124712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→ Check Idempotencia → MediatR → Domain (AddPoints) → PostgreSQL (transaction + outbox) → BasicAck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8424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2: Get Ranking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05740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993392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→ Controller → MediatR → Handler → Redis (cache) → PostgreSQL (si miss) → actualizar cache → 200 OK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85292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3: Ranking Job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292608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862072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24h → Query Top 100 usuarios → Recalculate(ranking) → SaveAsync → InvalidateRankingAsync(Redis)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66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2160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4: Outbox Worker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7947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730752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5s → Query outbox pendientes → PublishAsync(RabbitMQ) → Mark processedAt → RetryCount si falla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— Diagramas de Secuencia de los 4 flujos principales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Secuencia</dc:title>
  <dc:subject>PptxGenJS Presentation</dc:subject>
  <dc:creator>PptxGenJS</dc:creator>
  <cp:lastModifiedBy>PptxGenJS</cp:lastModifiedBy>
  <cp:revision>1</cp:revision>
  <dcterms:created xsi:type="dcterms:W3CDTF">2026-06-13T00:41:38Z</dcterms:created>
  <dcterms:modified xsi:type="dcterms:W3CDTF">2026-06-13T00:41:38Z</dcterms:modified>
</cp:coreProperties>
</file>