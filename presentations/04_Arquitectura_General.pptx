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general de la arquitectura del Gamification Service. Combina Arquitectura Hexagonal, DDD, CQRS y Event-Driven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principios clave. La combinación crea un sistema mantenible, testable y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proyectos con dependencias unidireccionales. Domain no conoce ningún otro proyecto. API conoce todos pero nunca toca Domain directamente.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principal tiene 5 pasos. El paso 5 escribe en outbox y el OutboxWorker publica de forma asincrónica para garantizar consistencia.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patrones de diseño. La combinación forma una arquitectura robusta, mantenible y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moderno y estándar en el ecosistema .NET. Cada tecnología cumple una función específica en la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general combina 4 paradigmas que se complementan para crear un microservicio robusto, mantenible y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 (Ports &amp; Adapters)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• CQRS • Clean Architecture • Event-Driven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Arquitectónicos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que guían la estructura del sistema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389888"/>
            <a:ext cx="278892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61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en el centro. Puertos hacia afuera. Adaptadores en la periferia. Las dependencias apuntan hacia adentro.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Testabilidad y reemplazabilidad de infraestructura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1389888"/>
            <a:ext cx="278892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61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153619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(UserGamification, Ranking), Entities, Value Objects, Domain Events. El lenguaje ubiquo refleja el dominio.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23317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Modelo rico en el negocio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972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1389888"/>
            <a:ext cx="278892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161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153619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(AssignPoints, UnlockAchievement) separan escritura de Queries (GetRanking, GetAchievements). MediatR como bus.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3317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Escalabilidad y claridad de intención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7180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3264408"/>
            <a:ext cx="2788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035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41071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 internos. Outbox Pattern para publicación confiable. RabbitMQ para mensajería asincrónica entre microservicios.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20624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2336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Desacoplamiento entre servicios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5468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97180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6D2E46"/>
          </a:solidFill>
          <a:ln/>
        </p:spPr>
      </p:sp>
      <p:sp>
        <p:nvSpPr>
          <p:cNvPr id="35" name="Shape 33"/>
          <p:cNvSpPr/>
          <p:nvPr/>
        </p:nvSpPr>
        <p:spPr>
          <a:xfrm>
            <a:off x="3154680" y="3264408"/>
            <a:ext cx="278892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3035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341071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de dominio se escriben en una tabla outbox junto a los cambios de negocio en la misma transacción. OutboxWorker los publica.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46120" y="420624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42336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Consistencia eventual garantizada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297180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6080760" y="3264408"/>
            <a:ext cx="278892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3035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72200" y="341071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 = sourceEventId + actionType. processed_events evita procesar el mismo evento dos veces si RabbitMQ reintenta.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420624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42336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Exactly-once semantics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Proyectos .NET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proyectos en la solución — Gamification.slnx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8778240" cy="3794760"/>
          </a:xfrm>
          <a:prstGeom prst="roundRect">
            <a:avLst>
              <a:gd name="adj" fmla="val 361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Gamification.slnx (.NET 10 Solution)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55648"/>
            <a:ext cx="19202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51790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920240"/>
            <a:ext cx="177393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ValueObjects/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Repositories/ (interfaces)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Enums/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4370832"/>
            <a:ext cx="1773936" cy="2286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891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dependencias NuGet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146304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146304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755648"/>
            <a:ext cx="21945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151790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1920240"/>
            <a:ext cx="20482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MediatR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Ref: Domain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96312" y="4370832"/>
            <a:ext cx="2048256" cy="2286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4389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Depende: Domain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2286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6304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755648"/>
            <a:ext cx="228600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1790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1920240"/>
            <a:ext cx="21396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├ AppDbContext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├ Repositories/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└ Workers/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Ref: Domain, App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28032" y="4370832"/>
            <a:ext cx="2139696" cy="2286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3891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Depende: Domain, App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78040" y="146304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146304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7178040" y="1755648"/>
            <a:ext cx="160020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251192" y="15179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51192" y="1920240"/>
            <a:ext cx="14538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Ref: todas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51192" y="4370832"/>
            <a:ext cx="1453896" cy="2286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43891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0" y="3063240"/>
            <a:ext cx="13716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063240"/>
            <a:ext cx="1371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3063240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Petición HTTP — Assign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cola RabbitMQ al almacenamiento en PostgreSQL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932688"/>
            <a:ext cx="457200" cy="457200"/>
          </a:xfrm>
          <a:prstGeom prst="ellipse">
            <a:avLst/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12984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1234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024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 recibe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LessonCompleted 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broker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2194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118872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6020" y="932688"/>
            <a:ext cx="457200" cy="45720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4602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47672" y="12984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57400" y="1847088"/>
            <a:ext cx="1234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92024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processed_events.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existe → Ack y termina.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→ continúa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33172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194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118872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37660" y="932688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3766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39312" y="12984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1847088"/>
            <a:ext cx="1234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92024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AssignPointsCommand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(userId, points, actionType)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IMediator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233172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2194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118872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29300" y="932688"/>
            <a:ext cx="457200" cy="45720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2930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30952" y="12984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1847088"/>
            <a:ext cx="1234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92024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UserGamification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domain.AddPoints()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PointsAddedEvent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233172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2194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118872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20940" y="932688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2094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22592" y="12984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1847088"/>
            <a:ext cx="1234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192024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AppDbContext.SaveChanges()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en PostgreSQL: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user_gamification + outbox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2880" y="3703320"/>
            <a:ext cx="8778240" cy="1097280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OutboxWorker (cada 5 segundos)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" y="402336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eventos de la tabla outbox sin procesar → Publica via RabbitMqProducer al exchange → Marca ProcessedAt → Si falla, RetryCount++ (máx 5 intentos)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Implementados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aplicados en el Gamification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097280"/>
            <a:ext cx="914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 + Infrastructure]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91640" y="1143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IUserGamificationRepository define el contrato. UserGamificationRepository lo implementa con EF Core. El Domain no conoce SQL.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9164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Abstracción del acceso a datos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993392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93392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9320" y="1993392"/>
            <a:ext cx="914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Root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496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72200" y="20391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 controla sus entidades internas (PointTransaction, UserAchievement). Solo se modifica a través de métodos del aggregate.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263347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Invariantes del dominio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889504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950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1508760" y="2889504"/>
            <a:ext cx="914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962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33924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91640" y="293522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UserId, DateRange son inmutables y se comparan por valor, no por referencia. Expresan conceptos del dominio con validación.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91640" y="352958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Inmutabilidad y expresividad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785616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85616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3785616"/>
            <a:ext cx="914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8587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42885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72200" y="383133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PointsAddedEvent, AchievementUnlockedEvent, LevelUpEvent se levantan dentro del aggregate y se persistenal outbox en la misma transacción.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72200" y="442569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Consistencia eventual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10972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10972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35" name="Shape 33"/>
          <p:cNvSpPr/>
          <p:nvPr/>
        </p:nvSpPr>
        <p:spPr>
          <a:xfrm>
            <a:off x="1508760" y="1097280"/>
            <a:ext cx="914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11704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691640" y="1143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IAchievementStrategy define el contrato de evaluación. FirstTutoringStrategy, ActiveCollaboratorStrategy, etc. implementan lógicas distintas.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69164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Algoritmos intercambiables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1993392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993392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5989320" y="1993392"/>
            <a:ext cx="914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496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[Infrastructure]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72200" y="20391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se escriben en la tabla outbox atómicamente con los cambios. OutboxWorker los publica de forma asincrónica con reintentos.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72200" y="263347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At-least-once delivery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" y="2889504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288950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49" name="Shape 47"/>
          <p:cNvSpPr/>
          <p:nvPr/>
        </p:nvSpPr>
        <p:spPr>
          <a:xfrm>
            <a:off x="1508760" y="2889504"/>
            <a:ext cx="914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2962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33924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[Application]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91640" y="293522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(AssignPointsCommand) separan escritura de Queries (GetUserRankingQuery). MediatR enruta cada tipo a su handler.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91640" y="352958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Separación de intención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09160" y="3785616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785616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5989320" y="3785616"/>
            <a:ext cx="914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38587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54880" y="42885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[Infrastructure]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172200" y="383133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RankingJob actualiza PostgreSQL e invalida Redis. Al leer, si no hay cache (IRankingCache) se va a DB y se actualiza el cache.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72200" y="442569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Rendimiento en lecturas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Completo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frameworks del Gamification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371600"/>
            <a:ext cx="28346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Framework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(C#)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 (PostgreSQL driver)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FF6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371600"/>
            <a:ext cx="283464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&amp; 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52704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RabbitMQ.Client 6.x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StackExchange.Redis 2.x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(custom)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 (.NET)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9728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371600"/>
            <a:ext cx="28346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52704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12.x (CQRS)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 / IRequestHandler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+ Singleton DI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Swashbuckle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3291840"/>
            <a:ext cx="28346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72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44728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(test framework)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 (mocking library)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FluentAssertions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(E2E)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336791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3291840"/>
            <a:ext cx="2834640" cy="914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72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44728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15-alpine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7-alpine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3.12-management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01752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0175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3291840"/>
            <a:ext cx="28346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072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3447288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(develop branch)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en PR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CLI tools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Arquitectura General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Hexagonal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2471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 el centro, adaptadores en la periferia. Regla de dependencia: siempre hacia adentro. 4 capas (proyectos .NET).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842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DDD + Value Objects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05740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99339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 es el Aggregate Root. 10+ Value Objects inmutables. Domain Events para comunicación interna.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85292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+ MediatR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92608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86207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y Queries separados. AssignPointsCommandHandler es el caso de uso principal. Handlers desacoplados de la infraestructura.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216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+ Outbox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37947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73075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eventual garantizada. Outbox Pattern + OutboxWorker para publicación confiable. Idempotencia en processed_events.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Arquitectura General (Hexagonal + DDD + CQRS + Event-Driven)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General</dc:title>
  <dc:subject>PptxGenJS Presentation</dc:subject>
  <dc:creator>PptxGenJS</dc:creator>
  <cp:lastModifiedBy>PptxGenJS</cp:lastModifiedBy>
  <cp:revision>1</cp:revision>
  <dcterms:created xsi:type="dcterms:W3CDTF">2026-06-13T00:41:37Z</dcterms:created>
  <dcterms:modified xsi:type="dcterms:W3CDTF">2026-06-13T00:41:37Z</dcterms:modified>
</cp:coreProperties>
</file>