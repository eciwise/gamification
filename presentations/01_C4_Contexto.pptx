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título. El diagrama de Contexto C4 (Nivel 1) muestra el sistema en su entorno: quiénes interactúan con él y qué sistemas externos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contexto C4 es la vista de más alto nivel. Identifica actores externos e integraciones sin entrar en detalles internos.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Gamification Service es el núcleo. Gestiona toda la lógica de gamificación: puntos, logros y rankings.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tipos de actores interactúan con el sistema. Los roles de Estudiante y Tutor son los principales generadores de eventos.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sistemas externos clave. PostgreSQL es la fuente de verdad; Redis optimiza las lecturas; RabbitMQ desacopla los servicios.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completa del contexto. Actores a la izquierda interactúan vía REST. Sistemas externos a la derecha son dependencias de infraestructura.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del diagrama de contexto. El Gamification Service opera como un microservicio desacoplado con 3 actores y 3 dependencias externas clave.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Contexto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C4 — Nivel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 de Gamificación | EciWise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 •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Diagrama de Contexto C4?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del modelo C4 — La vista más amplia del sistema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de Contexto sitúa el sistema dentro de su entorno. Responde: ¿Quiénes usan el sistema? ¿Con qué otros sistemas interactúa?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Central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2194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(Microservicio .NET 10)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/ Actores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2514600"/>
            <a:ext cx="2194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5603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Estudiantes, Tutores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Administradores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Externos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514600"/>
            <a:ext cx="2194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5603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RabbitMQ, 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Redis, Servicios ECI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Central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Service — Microservicio de Gamificación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0" y="1280160"/>
            <a:ext cx="3657600" cy="2560320"/>
          </a:xfrm>
          <a:prstGeom prst="roundRect">
            <a:avLst>
              <a:gd name="adj" fmla="val 535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[Software System]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691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17520" y="2514600"/>
            <a:ext cx="31089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6060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puntos, logros y rankings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plataforma EciWise 2.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en .NET 10 / C#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371600"/>
            <a:ext cx="2286000" cy="3200400"/>
          </a:xfrm>
          <a:prstGeom prst="roundRect">
            <a:avLst>
              <a:gd name="adj" fmla="val 4000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" y="182880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1801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puntos por acciones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" y="233172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" y="23042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Desbloquear logros (achievements)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283464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2807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rankings globales y por materia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" y="333756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33101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eventos de dominio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384048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" y="38130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rankings en Redis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75120" y="1371600"/>
            <a:ext cx="2286000" cy="3200400"/>
          </a:xfrm>
          <a:prstGeom prst="roundRect">
            <a:avLst>
              <a:gd name="adj" fmla="val 4000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84848" y="18288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7004304" y="1801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/ C#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84848" y="233172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7004304" y="23042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84848" y="283464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7004304" y="2807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84848" y="333756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7004304" y="33101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MediatR (CQRS)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84848" y="384048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7004304" y="38130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+ Moq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del Sistema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interactúan con el Microservicio de Gamificación?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0" y="1097280"/>
            <a:ext cx="914400" cy="9144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2128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[Persona]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2770632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tutorías, gana puntos, desbloquea logros y consulta su posición en el ranking.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3493008"/>
            <a:ext cx="24323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ranking personal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logros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puntos automáticamente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69080" y="1097280"/>
            <a:ext cx="914400" cy="9144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6908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200400" y="214884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22128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5146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[Persona]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2770632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 tutorías y recibe puntos por calificaciones. Puede alcanzar el logro Mentor del Mes.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0128" y="3493008"/>
            <a:ext cx="24323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Ganar puntos por tutorías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Desbloquear logros especiales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Aparecer en Top Tutores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9440" y="1097280"/>
            <a:ext cx="914400" cy="9144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080760" y="214884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22128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25146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[Persona]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90488" y="2770632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reglas de gamificación activas y gestiona la configuración del sistema.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90488" y="3493008"/>
            <a:ext cx="24323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/api/admin/rules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reglas activas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el sistema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Externos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e integraciones del Microservicio de Gamificación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02920" cy="1783080"/>
          </a:xfrm>
          <a:prstGeom prst="roundRect">
            <a:avLst>
              <a:gd name="adj" fmla="val 18182"/>
            </a:avLst>
          </a:prstGeom>
          <a:solidFill>
            <a:srgbClr val="33679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143000"/>
            <a:ext cx="91440" cy="178308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43000"/>
            <a:ext cx="502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234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49047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[Base de Datos]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6916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Almacena: usuarios, puntos, logros, rankings, reglas, outbox de eventos y eventos procesados.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Lee y escribe datos (EF Core + Npgsql)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43000"/>
            <a:ext cx="502920" cy="1783080"/>
          </a:xfrm>
          <a:prstGeom prst="roundRect">
            <a:avLst>
              <a:gd name="adj" fmla="val 18182"/>
            </a:avLst>
          </a:prstGeom>
          <a:solidFill>
            <a:srgbClr val="CC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166360" y="1143000"/>
            <a:ext cx="91440" cy="17830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43000"/>
            <a:ext cx="502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49240" y="1234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149047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[Cache Distribuido]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49240" y="16916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 los top rankings con TTL de 10 minutos. Reduce carga a PostgreSQL en consultas frecuentes.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4924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Lectura/escritura de rankings cacheados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06324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63240"/>
            <a:ext cx="502920" cy="1783080"/>
          </a:xfrm>
          <a:prstGeom prst="roundRect">
            <a:avLst>
              <a:gd name="adj" fmla="val 18182"/>
            </a:avLst>
          </a:prstGeom>
          <a:solidFill>
            <a:srgbClr val="FF66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063240"/>
            <a:ext cx="91440" cy="178308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063240"/>
            <a:ext cx="502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31546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3.12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41071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[Message Broker]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36118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eventos externos (LessonCompleted) y publica eventos de dominio (PointsAdded, LevelUp, etc.).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4400" y="4526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Consume y publica mensajes asincrónicos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06324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063240"/>
            <a:ext cx="502920" cy="1783080"/>
          </a:xfrm>
          <a:prstGeom prst="roundRect">
            <a:avLst>
              <a:gd name="adj" fmla="val 18182"/>
            </a:avLst>
          </a:prstGeom>
          <a:solidFill>
            <a:srgbClr val="6D2E46"/>
          </a:solidFill>
          <a:ln/>
        </p:spPr>
      </p:sp>
      <p:sp>
        <p:nvSpPr>
          <p:cNvPr id="31" name="Shape 29"/>
          <p:cNvSpPr/>
          <p:nvPr/>
        </p:nvSpPr>
        <p:spPr>
          <a:xfrm>
            <a:off x="5166360" y="3063240"/>
            <a:ext cx="91440" cy="17830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063240"/>
            <a:ext cx="502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9240" y="31546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Servicios ECI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41071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[Microservicio]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49240" y="36118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la plataforma EciWise que publican eventos de actividad de usuarios hacia el broker.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49240" y="4526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Produce eventos al broker RabbitMQ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Contexto — Vista General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entre actores, sistema y dependencias externas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91840" y="17373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0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| Hexagonal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1005840" cy="6400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80160" y="1691640"/>
            <a:ext cx="20116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4630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1005840" cy="6400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3774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80160" y="2697480"/>
            <a:ext cx="20116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24688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1005840" cy="6400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3832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80160" y="3703320"/>
            <a:ext cx="20116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34747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949440" y="128016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1280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1600200"/>
            <a:ext cx="10972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0448" y="137160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EF Core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49440" y="224028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CC00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0" y="2240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52160" y="2560320"/>
            <a:ext cx="10972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0448" y="233172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StackExchange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949440" y="32004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F66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4944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52160" y="3520440"/>
            <a:ext cx="10972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0448" y="329184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AMQP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74720" y="3200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74720" y="320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Servicios ECI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868680"/>
            <a:ext cx="0" cy="86868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10515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via RabbitMQ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del Contexto C4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Sistema Central: Gamification Service (.NET 10, Hexagonal Architecture)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Tipos de Actores: Estudiante, Tutor, Administrador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8803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Sistemas de Infraestructura: PostgreSQL (datos), Redis (cache), RabbitMQ (mensajería)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502920" cy="502920"/>
          </a:xfrm>
          <a:prstGeom prst="ellipse">
            <a:avLst/>
          </a:prstGeom>
          <a:solidFill>
            <a:srgbClr val="A8D8E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7033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desacoplada: Eventos asincrónicos via broker de mensajes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Service — Diagrama de Contexto C4 (Nivel 1)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C4 - Diagrama de Contexto</dc:title>
  <dc:subject>PptxGenJS Presentation</dc:subject>
  <dc:creator>PptxGenJS</dc:creator>
  <cp:lastModifiedBy>PptxGenJS</cp:lastModifiedBy>
  <cp:revision>1</cp:revision>
  <dcterms:created xsi:type="dcterms:W3CDTF">2026-06-13T00:41:36Z</dcterms:created>
  <dcterms:modified xsi:type="dcterms:W3CDTF">2026-06-13T00:41:36Z</dcterms:modified>
</cp:coreProperties>
</file>