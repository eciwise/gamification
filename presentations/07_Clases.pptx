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Diagrama de Clases muestra la estructura completa del dominio. Se divide en múltiples slides por la riqueza del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Aggregates: UserGamification (principal), AchievementDefinition y Ranking. Cada uno extiende AggregateRoot que maneja Domain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entidades más Entity base. Se comparan por Id (Guid). LevelDefinition y GamificationRule son entidades de configuración del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Value Objects. Son inmutables: nunca se modifican, se crean nuevas instancias. Se comparan por valor, no por referencia. Incluyen validación en el constructor.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Domain Events se publican a RabbitMQ via Outbox. ActionType define las 5 acciones que generan puntos. RankingType define los 4 tipos de ranking.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pares Port→Adapter. El DI container (Program.cs) registra cada implementación contra su interfaz. El Domain solo conoce las interfaces.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Strategy Pattern para logros: cada tipo de logro tiene una estrategia de evaluación independiente. Factory resuelve la estrategia por StrategyKey en tiempo de ejecución.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Commands y Queries son POCOs simples. Los Handlers orquestan el dominio. Los DTOs son la respuesta al cliente, sin lógica de negocio.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de dominio es rico: 3 aggregates, 7 entidades, 11 VOs. La arquitectura hexagonal garantiza que toda esta lógica es independiente de la infraestructura.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772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Clases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Dominio — Domain-Driven Design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 de Gamificación | EciWise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• Entities • Value Objects • Ports • Adapters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— Raíces del Dominio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AggregateRoot protege las invariantes del negocio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2560320" cy="1426464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51560"/>
            <a:ext cx="2560320" cy="548640"/>
          </a:xfrm>
          <a:prstGeom prst="roundRect">
            <a:avLst>
              <a:gd name="adj" fmla="val 11667"/>
            </a:avLst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" y="1508760"/>
            <a:ext cx="256032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08813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«abstract»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28600" y="1252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AggregateRoot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636776"/>
            <a:ext cx="2468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65506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_domainEvents: List&lt;DomainEvent&gt;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28600" y="1874520"/>
            <a:ext cx="2468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89280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AddDomainEvent(event)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56032" y="2057400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ClearDomainEvents()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56032" y="222199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GetDomainEvents(): IReadOnlyList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91840" y="1051560"/>
            <a:ext cx="2743200" cy="2578608"/>
          </a:xfrm>
          <a:prstGeom prst="roundRect">
            <a:avLst>
              <a:gd name="adj" fmla="val 24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051560"/>
            <a:ext cx="2743200" cy="548640"/>
          </a:xfrm>
          <a:prstGeom prst="roundRect">
            <a:avLst>
              <a:gd name="adj" fmla="val 11667"/>
            </a:avLst>
          </a:prstGeom>
          <a:solidFill>
            <a:srgbClr val="065A82"/>
          </a:solidFill>
          <a:ln/>
        </p:spPr>
      </p:sp>
      <p:sp>
        <p:nvSpPr>
          <p:cNvPr id="18" name="Shape 16"/>
          <p:cNvSpPr/>
          <p:nvPr/>
        </p:nvSpPr>
        <p:spPr>
          <a:xfrm>
            <a:off x="3291840" y="1508760"/>
            <a:ext cx="27432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108813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«AggregateRoot»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337560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UserGamification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1636776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165506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Id: Guid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364992" y="181965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UserId: UserId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64992" y="198424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TotalPoints: Points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364992" y="214884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CurrentLevel: LevelDefinition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364992" y="231343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ReputationScore: ReputationScore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64992" y="247802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ActionStats: List&lt;UserActionStat&gt;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364992" y="264261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Achievements: List&lt;UserAchievement&gt;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337560" y="2862072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288036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AddPoints(transaction: PointTransaction)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64992" y="304495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IncrementStat(action: ActionType)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364992" y="320954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GetStat(action: ActionType): UserActionStat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364992" y="337413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UnlockAchievement(achievement: AchievementDefinition)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82880" y="3063240"/>
            <a:ext cx="2560320" cy="2249424"/>
          </a:xfrm>
          <a:prstGeom prst="roundRect">
            <a:avLst>
              <a:gd name="adj" fmla="val 2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82880" y="3063240"/>
            <a:ext cx="2560320" cy="548640"/>
          </a:xfrm>
          <a:prstGeom prst="roundRect">
            <a:avLst>
              <a:gd name="adj" fmla="val 11667"/>
            </a:avLst>
          </a:prstGeom>
          <a:solidFill>
            <a:srgbClr val="21295C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" y="3520440"/>
            <a:ext cx="2560320" cy="91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7" name="Text 35"/>
          <p:cNvSpPr/>
          <p:nvPr/>
        </p:nvSpPr>
        <p:spPr>
          <a:xfrm>
            <a:off x="228600" y="309981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«AggregateRoot»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28600" y="32644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AchievementDefinition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8600" y="3648456"/>
            <a:ext cx="2468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" y="366674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Id: Guid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56032" y="383133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Name: string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56032" y="399592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Description: string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56032" y="4160520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ImageUrl: string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56032" y="432511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StrategyKey: string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56032" y="448970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CriteriaConfig: CriteriaConfig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56032" y="465429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IsActive: bool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28600" y="4873752"/>
            <a:ext cx="2468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6032" y="4892040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Deactivate()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56032" y="505663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UpdateCriteria(config)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291840" y="3474720"/>
            <a:ext cx="27432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291840" y="3474720"/>
            <a:ext cx="2743200" cy="548640"/>
          </a:xfrm>
          <a:prstGeom prst="roundRect">
            <a:avLst>
              <a:gd name="adj" fmla="val 11667"/>
            </a:avLst>
          </a:prstGeom>
          <a:solidFill>
            <a:srgbClr val="1C7293"/>
          </a:solidFill>
          <a:ln/>
        </p:spPr>
      </p:sp>
      <p:sp>
        <p:nvSpPr>
          <p:cNvPr id="52" name="Shape 50"/>
          <p:cNvSpPr/>
          <p:nvPr/>
        </p:nvSpPr>
        <p:spPr>
          <a:xfrm>
            <a:off x="3291840" y="3931920"/>
            <a:ext cx="274320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3" name="Text 51"/>
          <p:cNvSpPr/>
          <p:nvPr/>
        </p:nvSpPr>
        <p:spPr>
          <a:xfrm>
            <a:off x="3337560" y="351129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«AggregateRoot»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3337560" y="36758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337560" y="4059936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64992" y="407822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Id: Guid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364992" y="424281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Type: RankingType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3364992" y="440740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Period: DateRange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3364992" y="457200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SubjectCode: SubjectCode?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3364992" y="473659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Entries: List&lt;RankingEntry&gt;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3337560" y="4956048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64992" y="497433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Recalculate(data: List&lt;UserRankingData&gt;)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3364992" y="513892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GetUserPosition(userId: UserId): RankingEntry?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743200" y="1737360"/>
            <a:ext cx="5486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61488" y="1572768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1463040" y="2286000"/>
            <a:ext cx="0" cy="77724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1463040" y="3063240"/>
            <a:ext cx="5486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481328" y="2880360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663440" y="3017520"/>
            <a:ext cx="0" cy="457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70" name="Text 68"/>
          <p:cNvSpPr/>
          <p:nvPr/>
        </p:nvSpPr>
        <p:spPr>
          <a:xfrm>
            <a:off x="4681728" y="3200400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6400800" y="1051560"/>
            <a:ext cx="2560320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400800" y="1051560"/>
            <a:ext cx="2560320" cy="548640"/>
          </a:xfrm>
          <a:prstGeom prst="roundRect">
            <a:avLst>
              <a:gd name="adj" fmla="val 11667"/>
            </a:avLst>
          </a:prstGeom>
          <a:solidFill>
            <a:srgbClr val="6D2E46"/>
          </a:solidFill>
          <a:ln/>
        </p:spPr>
      </p:sp>
      <p:sp>
        <p:nvSpPr>
          <p:cNvPr id="73" name="Shape 71"/>
          <p:cNvSpPr/>
          <p:nvPr/>
        </p:nvSpPr>
        <p:spPr>
          <a:xfrm>
            <a:off x="6400800" y="1508760"/>
            <a:ext cx="2560320" cy="914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74" name="Text 72"/>
          <p:cNvSpPr/>
          <p:nvPr/>
        </p:nvSpPr>
        <p:spPr>
          <a:xfrm>
            <a:off x="6446520" y="108813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«Entity»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6446520" y="1252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PointTransaction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446520" y="1636776"/>
            <a:ext cx="2468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73952" y="165506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Id: Guid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6473952" y="181965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UserId: UserId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6473952" y="198424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Points: Points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6473952" y="2148840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ActionType: ActionType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6473952" y="231343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Description: EventDescription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6473952" y="247802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SourceEventId: Guid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6473952" y="264261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IdempotencyKey: IdempotencyKey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6473952" y="280720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OccurredAt: DateTime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6446520" y="3026664"/>
            <a:ext cx="2468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035040" y="2011680"/>
            <a:ext cx="365760" cy="0"/>
          </a:xfrm>
          <a:prstGeom prst="line">
            <a:avLst/>
          </a:prstGeom>
          <a:noFill/>
          <a:ln w="12700">
            <a:solidFill>
              <a:srgbClr val="6D2E4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833872" y="18745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1..*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5833872" y="2029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6400800" y="3108960"/>
            <a:ext cx="2560320" cy="1591056"/>
          </a:xfrm>
          <a:prstGeom prst="roundRect">
            <a:avLst>
              <a:gd name="adj" fmla="val 40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6400800" y="3108960"/>
            <a:ext cx="2560320" cy="548640"/>
          </a:xfrm>
          <a:prstGeom prst="roundRect">
            <a:avLst>
              <a:gd name="adj" fmla="val 11667"/>
            </a:avLst>
          </a:prstGeom>
          <a:solidFill>
            <a:srgbClr val="1C7293"/>
          </a:solidFill>
          <a:ln/>
        </p:spPr>
      </p:sp>
      <p:sp>
        <p:nvSpPr>
          <p:cNvPr id="91" name="Shape 89"/>
          <p:cNvSpPr/>
          <p:nvPr/>
        </p:nvSpPr>
        <p:spPr>
          <a:xfrm>
            <a:off x="6400800" y="3566160"/>
            <a:ext cx="256032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2" name="Text 90"/>
          <p:cNvSpPr/>
          <p:nvPr/>
        </p:nvSpPr>
        <p:spPr>
          <a:xfrm>
            <a:off x="6446520" y="314553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«Entity»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446520" y="3310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RankingEntry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6446520" y="3694176"/>
            <a:ext cx="2468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473952" y="371246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Id: Guid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6473952" y="387705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UserId: UserId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6473952" y="404164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Position: int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6473952" y="4206240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Score: decimal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6473952" y="437083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ComputedAt: DateTime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6446520" y="4590288"/>
            <a:ext cx="2468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035040" y="3749040"/>
            <a:ext cx="36576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833872" y="36118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1..*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5833872" y="37673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— Identidad por ID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del dominio con identidad única (Guid)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256032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51560"/>
            <a:ext cx="2560320" cy="548640"/>
          </a:xfrm>
          <a:prstGeom prst="roundRect">
            <a:avLst>
              <a:gd name="adj" fmla="val 11667"/>
            </a:avLst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" y="1508760"/>
            <a:ext cx="256032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08813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«abstract»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28600" y="1252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636776"/>
            <a:ext cx="2468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65506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Id: Guid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28600" y="1874520"/>
            <a:ext cx="2468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89280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Equals(obj): bool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56032" y="2057400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GetHashCode(): int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108960" y="1051560"/>
            <a:ext cx="265176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08960" y="1051560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065A82"/>
          </a:solidFill>
          <a:ln/>
        </p:spPr>
      </p:sp>
      <p:sp>
        <p:nvSpPr>
          <p:cNvPr id="17" name="Shape 15"/>
          <p:cNvSpPr/>
          <p:nvPr/>
        </p:nvSpPr>
        <p:spPr>
          <a:xfrm>
            <a:off x="3108960" y="1508760"/>
            <a:ext cx="265176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3154680" y="10881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«Entity»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154680" y="1252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LevelDefinition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1636776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2112" y="1655064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Id: Guid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182112" y="181965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Name: string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182112" y="1984248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MinPoints: Points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154680" y="2203704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1051560"/>
            <a:ext cx="0" cy="109728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943600" y="1051560"/>
            <a:ext cx="2651760" cy="1426464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0" y="1051560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21295C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0" y="1508760"/>
            <a:ext cx="2651760" cy="91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9" name="Text 27"/>
          <p:cNvSpPr/>
          <p:nvPr/>
        </p:nvSpPr>
        <p:spPr>
          <a:xfrm>
            <a:off x="5989320" y="10881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«Entity»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989320" y="1252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UserAchievement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9320" y="1636776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16752" y="1655064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Id: Guid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016752" y="181965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UserId: UserId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016752" y="1984248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Achievement: AchievementDefinition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016752" y="2148840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UnlockedAt: DateTime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989320" y="2368296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69480" y="1051560"/>
            <a:ext cx="0" cy="109728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82880" y="2926080"/>
            <a:ext cx="2651760" cy="1591056"/>
          </a:xfrm>
          <a:prstGeom prst="roundRect">
            <a:avLst>
              <a:gd name="adj" fmla="val 40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82880" y="2926080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6D2E46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" y="3383280"/>
            <a:ext cx="2651760" cy="914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41" name="Text 39"/>
          <p:cNvSpPr/>
          <p:nvPr/>
        </p:nvSpPr>
        <p:spPr>
          <a:xfrm>
            <a:off x="228600" y="29626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«Entity»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28600" y="3127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UserLevelHistory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28600" y="3511296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" y="3529584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Id: Guid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56032" y="369417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UserId: UserId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56032" y="3858768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Level: LevelDefinition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56032" y="4023360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PointsAtThatMoment: Points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56032" y="4187952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AchievedAt: DateTime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28600" y="4407408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508760" y="2926080"/>
            <a:ext cx="0" cy="109728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3108960" y="2926080"/>
            <a:ext cx="265176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108960" y="2926080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1C7293"/>
          </a:solidFill>
          <a:ln/>
        </p:spPr>
      </p:sp>
      <p:sp>
        <p:nvSpPr>
          <p:cNvPr id="53" name="Shape 51"/>
          <p:cNvSpPr/>
          <p:nvPr/>
        </p:nvSpPr>
        <p:spPr>
          <a:xfrm>
            <a:off x="3108960" y="3383280"/>
            <a:ext cx="265176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4" name="Text 52"/>
          <p:cNvSpPr/>
          <p:nvPr/>
        </p:nvSpPr>
        <p:spPr>
          <a:xfrm>
            <a:off x="3154680" y="29626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«Entity»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3154680" y="3127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WeeklyActivity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154680" y="3511296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82112" y="3529584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Id: Guid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3182112" y="369417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UserId: UserId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3182112" y="3858768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WeekStart: DateTime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3182112" y="4023360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PointsEarned: Points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3182112" y="4187952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ActionsCount: int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182112" y="4352544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RecordedAt: DateTime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154680" y="4572000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182112" y="4590288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AddPoints(p: Points)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434840" y="2926080"/>
            <a:ext cx="0" cy="109728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5943600" y="2926080"/>
            <a:ext cx="2651760" cy="1591056"/>
          </a:xfrm>
          <a:prstGeom prst="roundRect">
            <a:avLst>
              <a:gd name="adj" fmla="val 40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5943600" y="2926080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028090"/>
          </a:solidFill>
          <a:ln/>
        </p:spPr>
      </p:sp>
      <p:sp>
        <p:nvSpPr>
          <p:cNvPr id="68" name="Shape 66"/>
          <p:cNvSpPr/>
          <p:nvPr/>
        </p:nvSpPr>
        <p:spPr>
          <a:xfrm>
            <a:off x="5943600" y="3383280"/>
            <a:ext cx="265176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9" name="Text 67"/>
          <p:cNvSpPr/>
          <p:nvPr/>
        </p:nvSpPr>
        <p:spPr>
          <a:xfrm>
            <a:off x="5989320" y="29626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«Entity»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5989320" y="3127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GamificationRule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989320" y="3511296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16752" y="3529584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Id: Guid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016752" y="369417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ActionType: ActionType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016752" y="3858768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PointsAwarded: Points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6016752" y="4023360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IsActive: bool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5989320" y="4242816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016752" y="4261104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Deactivate()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7269480" y="2926080"/>
            <a:ext cx="0" cy="109728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79" name="Text 77"/>
          <p:cNvSpPr/>
          <p:nvPr/>
        </p:nvSpPr>
        <p:spPr>
          <a:xfrm>
            <a:off x="182880" y="475488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entidades extienden Entity (identidad por Id)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Objects — Inmutables y por Valor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identidad propia — igualdad por sus componentes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228600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51560"/>
            <a:ext cx="2286000" cy="548640"/>
          </a:xfrm>
          <a:prstGeom prst="roundRect">
            <a:avLst>
              <a:gd name="adj" fmla="val 11667"/>
            </a:avLst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" y="1508760"/>
            <a:ext cx="228600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08813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«abstract»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28600" y="12527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ValueObject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636776"/>
            <a:ext cx="2194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709928"/>
            <a:ext cx="2194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728216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GetEqualityComponents(): IEnumerable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6032" y="1892808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Equals(obj): bool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56032" y="2057400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GetHashCode(): int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82880" y="2286000"/>
            <a:ext cx="237744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2880" y="2286000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065A82"/>
          </a:solidFill>
          <a:ln/>
        </p:spPr>
      </p:sp>
      <p:sp>
        <p:nvSpPr>
          <p:cNvPr id="17" name="Shape 15"/>
          <p:cNvSpPr/>
          <p:nvPr/>
        </p:nvSpPr>
        <p:spPr>
          <a:xfrm>
            <a:off x="182880" y="2743200"/>
            <a:ext cx="237744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" y="232257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«ValueObject»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8600" y="24871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871216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889504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Value: int (≥ 0)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28600" y="3108960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127248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Add(other: Points): Points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6032" y="3291840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static Zero: Points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0" y="2286000"/>
            <a:ext cx="23774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0" y="2286000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21295C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0" y="2743200"/>
            <a:ext cx="2377440" cy="91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8" name="Text 26"/>
          <p:cNvSpPr/>
          <p:nvPr/>
        </p:nvSpPr>
        <p:spPr>
          <a:xfrm>
            <a:off x="2788920" y="232257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«ValueObject»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788920" y="24871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UserId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88920" y="2871216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16352" y="2889504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Value: Guid (non-empty)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88920" y="3108960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2286000"/>
            <a:ext cx="23774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120640" y="2286000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1C7293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743200"/>
            <a:ext cx="237744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5166360" y="232257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«ValueObject»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166360" y="24871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ReputationScore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166360" y="2871216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93792" y="2889504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Value: decimal (≥ 0)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166360" y="3108960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98080" y="2286000"/>
            <a:ext cx="23774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498080" y="2286000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028090"/>
          </a:solidFill>
          <a:ln/>
        </p:spPr>
      </p:sp>
      <p:sp>
        <p:nvSpPr>
          <p:cNvPr id="43" name="Shape 41"/>
          <p:cNvSpPr/>
          <p:nvPr/>
        </p:nvSpPr>
        <p:spPr>
          <a:xfrm>
            <a:off x="7498080" y="2743200"/>
            <a:ext cx="237744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4" name="Text 42"/>
          <p:cNvSpPr/>
          <p:nvPr/>
        </p:nvSpPr>
        <p:spPr>
          <a:xfrm>
            <a:off x="7543800" y="232257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«ValueObject»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543800" y="24871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DateRange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543800" y="2871216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71232" y="2889504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Start: DateTime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571232" y="3054096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End: DateTime (&gt;= Start)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543800" y="3273552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2880" y="3703320"/>
            <a:ext cx="2377440" cy="1426464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82880" y="3703320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6D2E46"/>
          </a:solidFill>
          <a:ln/>
        </p:spPr>
      </p:sp>
      <p:sp>
        <p:nvSpPr>
          <p:cNvPr id="52" name="Shape 50"/>
          <p:cNvSpPr/>
          <p:nvPr/>
        </p:nvSpPr>
        <p:spPr>
          <a:xfrm>
            <a:off x="182880" y="4160520"/>
            <a:ext cx="2377440" cy="914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53" name="Text 51"/>
          <p:cNvSpPr/>
          <p:nvPr/>
        </p:nvSpPr>
        <p:spPr>
          <a:xfrm>
            <a:off x="228600" y="373989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«ValueObject»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228600" y="39044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UserActionStat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28600" y="4288536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6032" y="4306824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ActionType: ActionType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56032" y="4471416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Count: int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256032" y="4636008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LastUpdated: DateTime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28600" y="4855464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6032" y="487375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Increment(n: int): UserActionStat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743200" y="3703320"/>
            <a:ext cx="23774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2743200" y="3703320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065A82"/>
          </a:solidFill>
          <a:ln/>
        </p:spPr>
      </p:sp>
      <p:sp>
        <p:nvSpPr>
          <p:cNvPr id="63" name="Shape 61"/>
          <p:cNvSpPr/>
          <p:nvPr/>
        </p:nvSpPr>
        <p:spPr>
          <a:xfrm>
            <a:off x="2743200" y="4160520"/>
            <a:ext cx="237744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4" name="Text 62"/>
          <p:cNvSpPr/>
          <p:nvPr/>
        </p:nvSpPr>
        <p:spPr>
          <a:xfrm>
            <a:off x="2788920" y="373989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«ValueObject»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2788920" y="39044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SubjectCode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788920" y="4288536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816352" y="4306824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Value: string (non-empty)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788920" y="4526280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120640" y="3703320"/>
            <a:ext cx="23774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5120640" y="3703320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6D2E46"/>
          </a:solidFill>
          <a:ln/>
        </p:spPr>
      </p:sp>
      <p:sp>
        <p:nvSpPr>
          <p:cNvPr id="71" name="Shape 69"/>
          <p:cNvSpPr/>
          <p:nvPr/>
        </p:nvSpPr>
        <p:spPr>
          <a:xfrm>
            <a:off x="5120640" y="4160520"/>
            <a:ext cx="2377440" cy="914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72" name="Text 70"/>
          <p:cNvSpPr/>
          <p:nvPr/>
        </p:nvSpPr>
        <p:spPr>
          <a:xfrm>
            <a:off x="5166360" y="373989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«ValueObject»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5166360" y="39044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IdempotencyKey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166360" y="4288536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193792" y="4306824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Value: string (non-empty)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5166360" y="4526280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498080" y="3703320"/>
            <a:ext cx="23774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7498080" y="3703320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028090"/>
          </a:solidFill>
          <a:ln/>
        </p:spPr>
      </p:sp>
      <p:sp>
        <p:nvSpPr>
          <p:cNvPr id="79" name="Shape 77"/>
          <p:cNvSpPr/>
          <p:nvPr/>
        </p:nvSpPr>
        <p:spPr>
          <a:xfrm>
            <a:off x="7498080" y="4160520"/>
            <a:ext cx="237744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0" name="Text 78"/>
          <p:cNvSpPr/>
          <p:nvPr/>
        </p:nvSpPr>
        <p:spPr>
          <a:xfrm>
            <a:off x="7543800" y="373989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«ValueObject»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7543800" y="39044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CriteriaConfig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7543800" y="4288536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571232" y="4306824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JsonRaw: string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7543800" y="4526280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571232" y="4544568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Deserialize&lt;T&gt;(): T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182880" y="4800600"/>
            <a:ext cx="23774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182880" y="4800600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1C7293"/>
          </a:solidFill>
          <a:ln/>
        </p:spPr>
      </p:sp>
      <p:sp>
        <p:nvSpPr>
          <p:cNvPr id="88" name="Shape 86"/>
          <p:cNvSpPr/>
          <p:nvPr/>
        </p:nvSpPr>
        <p:spPr>
          <a:xfrm>
            <a:off x="182880" y="5257800"/>
            <a:ext cx="237744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9" name="Text 87"/>
          <p:cNvSpPr/>
          <p:nvPr/>
        </p:nvSpPr>
        <p:spPr>
          <a:xfrm>
            <a:off x="228600" y="483717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«ValueObject»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228600" y="5001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EventDescription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228600" y="5385816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56032" y="5404104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Value: string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228600" y="5623560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0" y="4800600"/>
            <a:ext cx="23774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2743200" y="4800600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065A82"/>
          </a:solidFill>
          <a:ln/>
        </p:spPr>
      </p:sp>
      <p:sp>
        <p:nvSpPr>
          <p:cNvPr id="96" name="Shape 94"/>
          <p:cNvSpPr/>
          <p:nvPr/>
        </p:nvSpPr>
        <p:spPr>
          <a:xfrm>
            <a:off x="2743200" y="5257800"/>
            <a:ext cx="237744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7" name="Text 95"/>
          <p:cNvSpPr/>
          <p:nvPr/>
        </p:nvSpPr>
        <p:spPr>
          <a:xfrm>
            <a:off x="2788920" y="483717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«ValueObject»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2788920" y="5001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AchievementContext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2788920" y="5385816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816352" y="5404104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SourceEventId: Guid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2816352" y="5568696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OccurredAt: DateTime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2788920" y="5788152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120640" y="4800600"/>
            <a:ext cx="23774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4" name="Shape 102"/>
          <p:cNvSpPr/>
          <p:nvPr/>
        </p:nvSpPr>
        <p:spPr>
          <a:xfrm>
            <a:off x="5120640" y="4800600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21295C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120640" y="5257800"/>
            <a:ext cx="2377440" cy="91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06" name="Text 104"/>
          <p:cNvSpPr/>
          <p:nvPr/>
        </p:nvSpPr>
        <p:spPr>
          <a:xfrm>
            <a:off x="5166360" y="483717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«ValueObject»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5166360" y="5001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UserRankingData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5166360" y="5385816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193792" y="5404104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UserId: UserId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5193792" y="5568696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Score: decimal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5166360" y="5788152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Events &amp; Enums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 dominio y tipos enumerados del negocio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32004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51560"/>
            <a:ext cx="3200400" cy="548640"/>
          </a:xfrm>
          <a:prstGeom prst="roundRect">
            <a:avLst>
              <a:gd name="adj" fmla="val 11667"/>
            </a:avLst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" y="1508760"/>
            <a:ext cx="320040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08813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«abstract»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28600" y="1252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DomainEvent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636776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655064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EventId: Guid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56032" y="1819656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OccurredAt: DateTime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2039112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2240280"/>
            <a:ext cx="3200400" cy="1426464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2240280"/>
            <a:ext cx="3200400" cy="548640"/>
          </a:xfrm>
          <a:prstGeom prst="roundRect">
            <a:avLst>
              <a:gd name="adj" fmla="val 11667"/>
            </a:avLst>
          </a:prstGeom>
          <a:solidFill>
            <a:srgbClr val="6D2E46"/>
          </a:solidFill>
          <a:ln/>
        </p:spPr>
      </p:sp>
      <p:sp>
        <p:nvSpPr>
          <p:cNvPr id="16" name="Shape 14"/>
          <p:cNvSpPr/>
          <p:nvPr/>
        </p:nvSpPr>
        <p:spPr>
          <a:xfrm>
            <a:off x="182880" y="2697480"/>
            <a:ext cx="3200400" cy="914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" y="227685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«DomainEvent»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28600" y="2441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PointsAddedEvent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825496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843784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UserId: UserId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56032" y="3008376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Points: Points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56032" y="3172968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ActionType: ActionType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56032" y="3337560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TransactionId: Guid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28600" y="3557016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2240280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3657600" y="2240280"/>
            <a:ext cx="320040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0" y="2240280"/>
            <a:ext cx="3200400" cy="548640"/>
          </a:xfrm>
          <a:prstGeom prst="roundRect">
            <a:avLst>
              <a:gd name="adj" fmla="val 11667"/>
            </a:avLst>
          </a:prstGeom>
          <a:solidFill>
            <a:srgbClr val="6D2E46"/>
          </a:solidFill>
          <a:ln/>
        </p:spPr>
      </p:sp>
      <p:sp>
        <p:nvSpPr>
          <p:cNvPr id="28" name="Shape 26"/>
          <p:cNvSpPr/>
          <p:nvPr/>
        </p:nvSpPr>
        <p:spPr>
          <a:xfrm>
            <a:off x="3657600" y="2697480"/>
            <a:ext cx="3200400" cy="914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9" name="Text 27"/>
          <p:cNvSpPr/>
          <p:nvPr/>
        </p:nvSpPr>
        <p:spPr>
          <a:xfrm>
            <a:off x="3703320" y="227685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«DomainEvent»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703320" y="2441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AchievementUnlockedEvent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03320" y="2825496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30752" y="2843784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UserId: UserId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730752" y="3008376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AchievementId: Guid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730752" y="3172968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AchievementName: string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703320" y="3392424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57800" y="2240280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182880" y="3566160"/>
            <a:ext cx="320040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82880" y="3566160"/>
            <a:ext cx="3200400" cy="548640"/>
          </a:xfrm>
          <a:prstGeom prst="roundRect">
            <a:avLst>
              <a:gd name="adj" fmla="val 11667"/>
            </a:avLst>
          </a:prstGeom>
          <a:solidFill>
            <a:srgbClr val="6D2E46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" y="4023360"/>
            <a:ext cx="3200400" cy="914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40" name="Text 38"/>
          <p:cNvSpPr/>
          <p:nvPr/>
        </p:nvSpPr>
        <p:spPr>
          <a:xfrm>
            <a:off x="228600" y="360273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«DomainEvent»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28600" y="37673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LevelUpEvent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28600" y="4151376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6032" y="4169664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UserId: UserId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56032" y="4334256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NewLevel: string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56032" y="4498848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PointsAtLevel: Points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28600" y="4718304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83080" y="3566160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3657600" y="3566160"/>
            <a:ext cx="320040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657600" y="3566160"/>
            <a:ext cx="3200400" cy="548640"/>
          </a:xfrm>
          <a:prstGeom prst="roundRect">
            <a:avLst>
              <a:gd name="adj" fmla="val 11667"/>
            </a:avLst>
          </a:prstGeom>
          <a:solidFill>
            <a:srgbClr val="6D2E46"/>
          </a:solidFill>
          <a:ln/>
        </p:spPr>
      </p:sp>
      <p:sp>
        <p:nvSpPr>
          <p:cNvPr id="50" name="Shape 48"/>
          <p:cNvSpPr/>
          <p:nvPr/>
        </p:nvSpPr>
        <p:spPr>
          <a:xfrm>
            <a:off x="3657600" y="4023360"/>
            <a:ext cx="3200400" cy="914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51" name="Text 49"/>
          <p:cNvSpPr/>
          <p:nvPr/>
        </p:nvSpPr>
        <p:spPr>
          <a:xfrm>
            <a:off x="3703320" y="360273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«DomainEvent»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703320" y="37673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LowRatingAlertEvent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703320" y="4151376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30752" y="4169664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UserId: UserId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3730752" y="4334256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Rating: decimal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730752" y="4498848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Threshold: decimal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703320" y="4718304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257800" y="3566160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182880" y="208483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949440" y="105156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949440" y="105156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21295C"/>
          </a:solidFill>
          <a:ln/>
        </p:spPr>
      </p:sp>
      <p:sp>
        <p:nvSpPr>
          <p:cNvPr id="62" name="Shape 60"/>
          <p:cNvSpPr/>
          <p:nvPr/>
        </p:nvSpPr>
        <p:spPr>
          <a:xfrm>
            <a:off x="6949440" y="1307592"/>
            <a:ext cx="2011680" cy="91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63" name="Text 61"/>
          <p:cNvSpPr/>
          <p:nvPr/>
        </p:nvSpPr>
        <p:spPr>
          <a:xfrm>
            <a:off x="6995160" y="10698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«enum»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ActionType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040880" y="1463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TutoriaCompletada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040880" y="16642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TutoriaDictada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7040880" y="186537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MaterialAprobado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7040880" y="206654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TutoriaCalificada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7040880" y="226771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ForoPublicado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949440" y="352044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949440" y="352044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C7293"/>
          </a:solidFill>
          <a:ln/>
        </p:spPr>
      </p:sp>
      <p:sp>
        <p:nvSpPr>
          <p:cNvPr id="71" name="Shape 69"/>
          <p:cNvSpPr/>
          <p:nvPr/>
        </p:nvSpPr>
        <p:spPr>
          <a:xfrm>
            <a:off x="6949440" y="3776472"/>
            <a:ext cx="201168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2" name="Text 70"/>
          <p:cNvSpPr/>
          <p:nvPr/>
        </p:nvSpPr>
        <p:spPr>
          <a:xfrm>
            <a:off x="6995160" y="35387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«enum»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RankingType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040880" y="39319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GlobalPorPuntos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7040880" y="41513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TutoresMejorCalificados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040880" y="43708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TopDelMes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7040880" y="45902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PorMateria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&amp; Adapters — Interfaces e Implementaciones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de dependencias: Domain define contratos, Infrastructure los implementa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2057400" cy="676656"/>
          </a:xfrm>
          <a:prstGeom prst="roundRect">
            <a:avLst>
              <a:gd name="adj" fmla="val 9459"/>
            </a:avLst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97280"/>
            <a:ext cx="2057400" cy="32004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" y="1325880"/>
            <a:ext cx="20574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115568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«interface»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28600" y="1261872"/>
            <a:ext cx="1965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UserGamificationRepository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46888" y="1444752"/>
            <a:ext cx="1920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GetByUserIdAsync(userId): Task&lt;UserGamification?&gt;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46888" y="1609344"/>
            <a:ext cx="1920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SaveAsync(entity): Task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240280" y="1463040"/>
            <a:ext cx="3200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240280" y="1298448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impl.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560320" y="1097280"/>
            <a:ext cx="201168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0" y="1097280"/>
            <a:ext cx="2011680" cy="32004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16" name="Shape 14"/>
          <p:cNvSpPr/>
          <p:nvPr/>
        </p:nvSpPr>
        <p:spPr>
          <a:xfrm>
            <a:off x="2560320" y="1325880"/>
            <a:ext cx="201168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1115568"/>
            <a:ext cx="1920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606040" y="1261872"/>
            <a:ext cx="1920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UserGamificationRepository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624328" y="1444752"/>
            <a:ext cx="1874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GetByUserIdAsync(userId): Task&lt;UserGamification?&gt;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624328" y="1609344"/>
            <a:ext cx="1874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SaveAsync(entity): Task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754880" y="1097280"/>
            <a:ext cx="2057400" cy="841248"/>
          </a:xfrm>
          <a:prstGeom prst="roundRect">
            <a:avLst>
              <a:gd name="adj" fmla="val 7609"/>
            </a:avLst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97280"/>
            <a:ext cx="2057400" cy="32004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1325880"/>
            <a:ext cx="2057400" cy="91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1115568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«interface»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800600" y="1261872"/>
            <a:ext cx="1965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AchievementDefinitionRepository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18888" y="1444752"/>
            <a:ext cx="1920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GetByIdAsync(id): Task&lt;AchievementDefinition?&gt;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818888" y="1609344"/>
            <a:ext cx="1920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GetAllActiveAsync(): Task&lt;List&lt;&gt;&gt;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818888" y="1773936"/>
            <a:ext cx="1920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SaveAsync(entity): Task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812280" y="1463040"/>
            <a:ext cx="320040" cy="0"/>
          </a:xfrm>
          <a:prstGeom prst="line">
            <a:avLst/>
          </a:prstGeom>
          <a:noFill/>
          <a:ln w="19050">
            <a:solidFill>
              <a:srgbClr val="21295C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6812280" y="1298448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impl.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7132320" y="1097280"/>
            <a:ext cx="20116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32320" y="1097280"/>
            <a:ext cx="2011680" cy="32004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3" name="Shape 31"/>
          <p:cNvSpPr/>
          <p:nvPr/>
        </p:nvSpPr>
        <p:spPr>
          <a:xfrm>
            <a:off x="7132320" y="1325880"/>
            <a:ext cx="2011680" cy="91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4" name="Text 32"/>
          <p:cNvSpPr/>
          <p:nvPr/>
        </p:nvSpPr>
        <p:spPr>
          <a:xfrm>
            <a:off x="7178040" y="1115568"/>
            <a:ext cx="1920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178040" y="1261872"/>
            <a:ext cx="1920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AchievementDefinitionRepository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196328" y="1444752"/>
            <a:ext cx="1874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GetByIdAsync(id): Task&lt;AchievementDefinition?&gt;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7196328" y="1609344"/>
            <a:ext cx="1874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GetAllActiveAsync(): Task&lt;List&lt;&gt;&gt;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196328" y="1773936"/>
            <a:ext cx="1874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SaveAsync(entity): Task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82880" y="1097280"/>
            <a:ext cx="2057400" cy="676656"/>
          </a:xfrm>
          <a:prstGeom prst="roundRect">
            <a:avLst>
              <a:gd name="adj" fmla="val 9459"/>
            </a:avLst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82880" y="1097280"/>
            <a:ext cx="2057400" cy="32004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" y="1325880"/>
            <a:ext cx="205740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1115568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«interface»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28600" y="1261872"/>
            <a:ext cx="1965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GamificationRuleRepository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46888" y="1444752"/>
            <a:ext cx="1920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GetByActionTypeAsync(type): Task&lt;GamificationRule?&gt;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46888" y="1609344"/>
            <a:ext cx="1920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GetAllActiveAsync(): Task&lt;List&lt;&gt;&gt;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240280" y="1463040"/>
            <a:ext cx="3200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2240280" y="1298448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impl.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2560320" y="1097280"/>
            <a:ext cx="201168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560320" y="1097280"/>
            <a:ext cx="2011680" cy="32004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50" name="Shape 48"/>
          <p:cNvSpPr/>
          <p:nvPr/>
        </p:nvSpPr>
        <p:spPr>
          <a:xfrm>
            <a:off x="2560320" y="1325880"/>
            <a:ext cx="201168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1" name="Text 49"/>
          <p:cNvSpPr/>
          <p:nvPr/>
        </p:nvSpPr>
        <p:spPr>
          <a:xfrm>
            <a:off x="2606040" y="1115568"/>
            <a:ext cx="1920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606040" y="1261872"/>
            <a:ext cx="1920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GamificationRuleRepository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624328" y="1444752"/>
            <a:ext cx="1874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GetByActionTypeAsync(type): Task&lt;GamificationRule?&gt;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2624328" y="1609344"/>
            <a:ext cx="1874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GetAllActiveAsync(): Task&lt;List&lt;&gt;&gt;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4754880" y="2468880"/>
            <a:ext cx="2057400" cy="676656"/>
          </a:xfrm>
          <a:prstGeom prst="roundRect">
            <a:avLst>
              <a:gd name="adj" fmla="val 9459"/>
            </a:avLst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754880" y="2468880"/>
            <a:ext cx="2057400" cy="32004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57" name="Shape 55"/>
          <p:cNvSpPr/>
          <p:nvPr/>
        </p:nvSpPr>
        <p:spPr>
          <a:xfrm>
            <a:off x="4754880" y="2697480"/>
            <a:ext cx="205740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8" name="Text 56"/>
          <p:cNvSpPr/>
          <p:nvPr/>
        </p:nvSpPr>
        <p:spPr>
          <a:xfrm>
            <a:off x="4800600" y="2487168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«interface»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800600" y="2633472"/>
            <a:ext cx="1965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RankingRepository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818888" y="2816352"/>
            <a:ext cx="1920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GetCurrentAsync(type, code): Task&lt;Ranking?&gt;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818888" y="2980944"/>
            <a:ext cx="1920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SaveAsync(entity): Task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6812280" y="2834640"/>
            <a:ext cx="32004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6812280" y="2670048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impl.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7132320" y="2468880"/>
            <a:ext cx="201168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132320" y="2468880"/>
            <a:ext cx="2011680" cy="32004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66" name="Shape 64"/>
          <p:cNvSpPr/>
          <p:nvPr/>
        </p:nvSpPr>
        <p:spPr>
          <a:xfrm>
            <a:off x="7132320" y="2697480"/>
            <a:ext cx="201168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7" name="Text 65"/>
          <p:cNvSpPr/>
          <p:nvPr/>
        </p:nvSpPr>
        <p:spPr>
          <a:xfrm>
            <a:off x="7178040" y="2487168"/>
            <a:ext cx="1920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7178040" y="2633472"/>
            <a:ext cx="1920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RankingRepository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7196328" y="2816352"/>
            <a:ext cx="1874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GetCurrentAsync(type, code): Task&lt;Ranking?&gt;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7196328" y="2980944"/>
            <a:ext cx="1874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SaveAsync(entity): Task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182880" y="2468880"/>
            <a:ext cx="2057400" cy="841248"/>
          </a:xfrm>
          <a:prstGeom prst="roundRect">
            <a:avLst>
              <a:gd name="adj" fmla="val 7609"/>
            </a:avLst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182880" y="2468880"/>
            <a:ext cx="2057400" cy="320040"/>
          </a:xfrm>
          <a:prstGeom prst="roundRect">
            <a:avLst>
              <a:gd name="adj" fmla="val 20000"/>
            </a:avLst>
          </a:prstGeom>
          <a:solidFill>
            <a:srgbClr val="CC0000"/>
          </a:solidFill>
          <a:ln/>
        </p:spPr>
      </p:sp>
      <p:sp>
        <p:nvSpPr>
          <p:cNvPr id="73" name="Shape 71"/>
          <p:cNvSpPr/>
          <p:nvPr/>
        </p:nvSpPr>
        <p:spPr>
          <a:xfrm>
            <a:off x="182880" y="2697480"/>
            <a:ext cx="2057400" cy="914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74" name="Text 72"/>
          <p:cNvSpPr/>
          <p:nvPr/>
        </p:nvSpPr>
        <p:spPr>
          <a:xfrm>
            <a:off x="228600" y="2487168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«interface»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228600" y="2633472"/>
            <a:ext cx="1965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RankingCache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246888" y="2816352"/>
            <a:ext cx="1920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GetTopRankingsAsync(type, code): Task&lt;string?&gt;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246888" y="2980944"/>
            <a:ext cx="1920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SetTopRankingsAsync(type, code, data): Task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246888" y="3145536"/>
            <a:ext cx="1920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InvalidateRankingAsync(type, code): Task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2240280" y="2834640"/>
            <a:ext cx="320040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</a:ln>
        </p:spPr>
      </p:sp>
      <p:sp>
        <p:nvSpPr>
          <p:cNvPr id="80" name="Text 78"/>
          <p:cNvSpPr/>
          <p:nvPr/>
        </p:nvSpPr>
        <p:spPr>
          <a:xfrm>
            <a:off x="2240280" y="2670048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impl.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2560320" y="2468880"/>
            <a:ext cx="20116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2560320" y="2468880"/>
            <a:ext cx="2011680" cy="320040"/>
          </a:xfrm>
          <a:prstGeom prst="roundRect">
            <a:avLst>
              <a:gd name="adj" fmla="val 20000"/>
            </a:avLst>
          </a:prstGeom>
          <a:solidFill>
            <a:srgbClr val="CC0000"/>
          </a:solidFill>
          <a:ln/>
        </p:spPr>
      </p:sp>
      <p:sp>
        <p:nvSpPr>
          <p:cNvPr id="83" name="Shape 81"/>
          <p:cNvSpPr/>
          <p:nvPr/>
        </p:nvSpPr>
        <p:spPr>
          <a:xfrm>
            <a:off x="2560320" y="2697480"/>
            <a:ext cx="2011680" cy="914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84" name="Text 82"/>
          <p:cNvSpPr/>
          <p:nvPr/>
        </p:nvSpPr>
        <p:spPr>
          <a:xfrm>
            <a:off x="2606040" y="2487168"/>
            <a:ext cx="1920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2606040" y="2633472"/>
            <a:ext cx="1920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RedisRankingCache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2624328" y="2816352"/>
            <a:ext cx="1874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GetTopRankingsAsync(type, code): Task&lt;string?&gt;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2624328" y="2980944"/>
            <a:ext cx="1874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SetTopRankingsAsync(type, code, data): Task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2624328" y="3145536"/>
            <a:ext cx="1874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InvalidateRankingAsync(type, code): Task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754880" y="2468880"/>
            <a:ext cx="2057400" cy="512064"/>
          </a:xfrm>
          <a:prstGeom prst="roundRect">
            <a:avLst>
              <a:gd name="adj" fmla="val 12500"/>
            </a:avLst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4754880" y="2468880"/>
            <a:ext cx="2057400" cy="320040"/>
          </a:xfrm>
          <a:prstGeom prst="roundRect">
            <a:avLst>
              <a:gd name="adj" fmla="val 20000"/>
            </a:avLst>
          </a:prstGeom>
          <a:solidFill>
            <a:srgbClr val="FF6600"/>
          </a:solidFill>
          <a:ln/>
        </p:spPr>
      </p:sp>
      <p:sp>
        <p:nvSpPr>
          <p:cNvPr id="91" name="Shape 89"/>
          <p:cNvSpPr/>
          <p:nvPr/>
        </p:nvSpPr>
        <p:spPr>
          <a:xfrm>
            <a:off x="4754880" y="2697480"/>
            <a:ext cx="2057400" cy="914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92" name="Text 90"/>
          <p:cNvSpPr/>
          <p:nvPr/>
        </p:nvSpPr>
        <p:spPr>
          <a:xfrm>
            <a:off x="4800600" y="2487168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«interface»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4800600" y="2633472"/>
            <a:ext cx="1965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RabbitMqProducer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4818888" y="2816352"/>
            <a:ext cx="1920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PublishAsync&lt;T&gt;(exchange, routingKey, msg): Task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6812280" y="2834640"/>
            <a:ext cx="320040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</a:ln>
        </p:spPr>
      </p:sp>
      <p:sp>
        <p:nvSpPr>
          <p:cNvPr id="96" name="Text 94"/>
          <p:cNvSpPr/>
          <p:nvPr/>
        </p:nvSpPr>
        <p:spPr>
          <a:xfrm>
            <a:off x="6812280" y="2670048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impl.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7132320" y="2468880"/>
            <a:ext cx="201168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7132320" y="2468880"/>
            <a:ext cx="2011680" cy="320040"/>
          </a:xfrm>
          <a:prstGeom prst="roundRect">
            <a:avLst>
              <a:gd name="adj" fmla="val 20000"/>
            </a:avLst>
          </a:prstGeom>
          <a:solidFill>
            <a:srgbClr val="FF6600"/>
          </a:solidFill>
          <a:ln/>
        </p:spPr>
      </p:sp>
      <p:sp>
        <p:nvSpPr>
          <p:cNvPr id="99" name="Shape 97"/>
          <p:cNvSpPr/>
          <p:nvPr/>
        </p:nvSpPr>
        <p:spPr>
          <a:xfrm>
            <a:off x="7132320" y="2697480"/>
            <a:ext cx="2011680" cy="914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00" name="Text 98"/>
          <p:cNvSpPr/>
          <p:nvPr/>
        </p:nvSpPr>
        <p:spPr>
          <a:xfrm>
            <a:off x="7178040" y="2487168"/>
            <a:ext cx="1920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7178040" y="2633472"/>
            <a:ext cx="1920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RabbitMqProducer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7196328" y="2816352"/>
            <a:ext cx="1874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PublishAsync&lt;T&gt;(exchange, routingKey, msg): Task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Services &amp; Strategy Pattern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del dominio y estrategias de desbloqueo de logros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310896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51560"/>
            <a:ext cx="3108960" cy="548640"/>
          </a:xfrm>
          <a:prstGeom prst="roundRect">
            <a:avLst>
              <a:gd name="adj" fmla="val 11667"/>
            </a:avLst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" y="1508760"/>
            <a:ext cx="310896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08813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«DomainService»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28600" y="12527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GamificationDomainService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636776"/>
            <a:ext cx="3017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655064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_achievementRepo: IAchievementDefinitionRepository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56032" y="1819656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_strategyFactory: IAchievementStrategyFactory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2039112"/>
            <a:ext cx="3017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057400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EvaluateAchievements(user: UserGamification, context: AchievementContext): List&lt;AchievementDefinition&gt;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82880" y="2743200"/>
            <a:ext cx="3108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2880" y="2743200"/>
            <a:ext cx="3108960" cy="548640"/>
          </a:xfrm>
          <a:prstGeom prst="roundRect">
            <a:avLst>
              <a:gd name="adj" fmla="val 11667"/>
            </a:avLst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182880" y="3200400"/>
            <a:ext cx="310896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" y="277977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«interface»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8600" y="29443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IAchievementStrategyFactory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328416"/>
            <a:ext cx="3017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401568"/>
            <a:ext cx="3017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419856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GetStrategy(strategyKey: string): IAchievementStrategy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566160" y="1051560"/>
            <a:ext cx="28346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566160" y="1051560"/>
            <a:ext cx="2834640" cy="548640"/>
          </a:xfrm>
          <a:prstGeom prst="roundRect">
            <a:avLst>
              <a:gd name="adj" fmla="val 11667"/>
            </a:avLst>
          </a:prstGeom>
          <a:solidFill>
            <a:srgbClr val="21295C"/>
          </a:solidFill>
          <a:ln/>
        </p:spPr>
      </p:sp>
      <p:sp>
        <p:nvSpPr>
          <p:cNvPr id="25" name="Shape 23"/>
          <p:cNvSpPr/>
          <p:nvPr/>
        </p:nvSpPr>
        <p:spPr>
          <a:xfrm>
            <a:off x="3566160" y="1508760"/>
            <a:ext cx="2834640" cy="91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3611880" y="108813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«interface»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611880" y="1252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IAchievementStrategy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11880" y="1636776"/>
            <a:ext cx="2743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9312" y="1655064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StrategyKey: string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611880" y="1874520"/>
            <a:ext cx="2743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9312" y="1892808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Evaluate(user: UserGamification, stats: List&lt;UserActionStat&gt;, config: CriteriaConfig, ctx: AchievementContext): bool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583680" y="1051560"/>
            <a:ext cx="237744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583680" y="1051560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6D2E46"/>
          </a:solidFill>
          <a:ln/>
        </p:spPr>
      </p:sp>
      <p:sp>
        <p:nvSpPr>
          <p:cNvPr id="34" name="Shape 32"/>
          <p:cNvSpPr/>
          <p:nvPr/>
        </p:nvSpPr>
        <p:spPr>
          <a:xfrm>
            <a:off x="6583680" y="1508760"/>
            <a:ext cx="2377440" cy="914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5" name="Text 33"/>
          <p:cNvSpPr/>
          <p:nvPr/>
        </p:nvSpPr>
        <p:spPr>
          <a:xfrm>
            <a:off x="6629400" y="108813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«Strategy»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629400" y="1252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FirstTutoringStrategy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629400" y="1636776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56832" y="1655064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StrategyKey = "FIRST_TUTORING"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656832" y="1819656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TutoriaDictada &gt;= 1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629400" y="2039112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56832" y="2057400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Evaluate(...): bool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400800" y="1508760"/>
            <a:ext cx="182880" cy="0"/>
          </a:xfrm>
          <a:prstGeom prst="line">
            <a:avLst/>
          </a:prstGeom>
          <a:noFill/>
          <a:ln w="12700">
            <a:solidFill>
              <a:srgbClr val="21295C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6583680" y="2011680"/>
            <a:ext cx="237744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583680" y="2011680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6D2E46"/>
          </a:solidFill>
          <a:ln/>
        </p:spPr>
      </p:sp>
      <p:sp>
        <p:nvSpPr>
          <p:cNvPr id="45" name="Shape 43"/>
          <p:cNvSpPr/>
          <p:nvPr/>
        </p:nvSpPr>
        <p:spPr>
          <a:xfrm>
            <a:off x="6583680" y="2468880"/>
            <a:ext cx="2377440" cy="914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46" name="Text 44"/>
          <p:cNvSpPr/>
          <p:nvPr/>
        </p:nvSpPr>
        <p:spPr>
          <a:xfrm>
            <a:off x="6629400" y="204825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«Strategy»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629400" y="2212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ActiveCollaboratorStrategy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629400" y="2596896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56832" y="2615184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StrategyKey = "ACTIVE_COLLABORATOR"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656832" y="2779776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MaterialAprobado &gt;= 5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629400" y="2999232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56832" y="3017520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Evaluate(...): bool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400800" y="2468880"/>
            <a:ext cx="182880" cy="0"/>
          </a:xfrm>
          <a:prstGeom prst="line">
            <a:avLst/>
          </a:prstGeom>
          <a:noFill/>
          <a:ln w="12700">
            <a:solidFill>
              <a:srgbClr val="21295C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6583680" y="2971800"/>
            <a:ext cx="237744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583680" y="2971800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6D2E46"/>
          </a:solidFill>
          <a:ln/>
        </p:spPr>
      </p:sp>
      <p:sp>
        <p:nvSpPr>
          <p:cNvPr id="56" name="Shape 54"/>
          <p:cNvSpPr/>
          <p:nvPr/>
        </p:nvSpPr>
        <p:spPr>
          <a:xfrm>
            <a:off x="6583680" y="3429000"/>
            <a:ext cx="2377440" cy="914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57" name="Text 55"/>
          <p:cNvSpPr/>
          <p:nvPr/>
        </p:nvSpPr>
        <p:spPr>
          <a:xfrm>
            <a:off x="6629400" y="300837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«Strategy»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629400" y="31729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OutstandingTutorStrategy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629400" y="3557016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56832" y="3575304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StrategyKey = "OUTSTANDING_TUTOR"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656832" y="3739896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TutoriaCalificada &gt;= 10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629400" y="3959352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56832" y="3977640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Evaluate(...): bool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400800" y="3429000"/>
            <a:ext cx="182880" cy="0"/>
          </a:xfrm>
          <a:prstGeom prst="line">
            <a:avLst/>
          </a:prstGeom>
          <a:noFill/>
          <a:ln w="12700">
            <a:solidFill>
              <a:srgbClr val="21295C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6583680" y="3931920"/>
            <a:ext cx="237744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583680" y="3931920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6D2E46"/>
          </a:solidFill>
          <a:ln/>
        </p:spPr>
      </p:sp>
      <p:sp>
        <p:nvSpPr>
          <p:cNvPr id="67" name="Shape 65"/>
          <p:cNvSpPr/>
          <p:nvPr/>
        </p:nvSpPr>
        <p:spPr>
          <a:xfrm>
            <a:off x="6583680" y="4389120"/>
            <a:ext cx="2377440" cy="914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8" name="Text 66"/>
          <p:cNvSpPr/>
          <p:nvPr/>
        </p:nvSpPr>
        <p:spPr>
          <a:xfrm>
            <a:off x="6629400" y="396849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«Strategy»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629400" y="4133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MentorOfMonthStrategy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629400" y="4517136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56832" y="4535424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StrategyKey = "MENTOR_OF_MONTH"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6656832" y="4700016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Evaluación periódica global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6629400" y="4919472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56832" y="4937760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Evaluate(...): bool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6400800" y="4389120"/>
            <a:ext cx="182880" cy="0"/>
          </a:xfrm>
          <a:prstGeom prst="line">
            <a:avLst/>
          </a:prstGeom>
          <a:noFill/>
          <a:ln w="12700">
            <a:solidFill>
              <a:srgbClr val="21295C"/>
            </a:solidFill>
            <a:prstDash val="dash"/>
          </a:ln>
        </p:spPr>
      </p:sp>
      <p:sp>
        <p:nvSpPr>
          <p:cNvPr id="76" name="Text 74"/>
          <p:cNvSpPr/>
          <p:nvPr/>
        </p:nvSpPr>
        <p:spPr>
          <a:xfrm>
            <a:off x="6309360" y="22402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→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1737360" y="2743200"/>
            <a:ext cx="0" cy="27432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78" name="Text 76"/>
          <p:cNvSpPr/>
          <p:nvPr/>
        </p:nvSpPr>
        <p:spPr>
          <a:xfrm>
            <a:off x="1755648" y="30175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→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3291840" y="1920240"/>
            <a:ext cx="274320" cy="0"/>
          </a:xfrm>
          <a:prstGeom prst="line">
            <a:avLst/>
          </a:prstGeom>
          <a:noFill/>
          <a:ln w="12700">
            <a:solidFill>
              <a:srgbClr val="21295C"/>
            </a:solidFill>
            <a:prstDash val="dash"/>
          </a:ln>
        </p:spPr>
      </p:sp>
      <p:sp>
        <p:nvSpPr>
          <p:cNvPr id="80" name="Text 78"/>
          <p:cNvSpPr/>
          <p:nvPr/>
        </p:nvSpPr>
        <p:spPr>
          <a:xfrm>
            <a:off x="3310128" y="178308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CQRS — Application Layer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Commands, Queries y sus Handlers con MediatR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2651760" cy="1426464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51560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" y="1508760"/>
            <a:ext cx="265176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0881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«IRequest&lt;bool&gt;»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28600" y="1252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AssignPointsCommand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636776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655064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UserId: Guid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56032" y="181965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Points: int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6032" y="1984248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ActionType: ActionType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56032" y="2148840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SourceEventId: Guid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2368296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606040"/>
            <a:ext cx="265176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2606040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21295C"/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" y="3063240"/>
            <a:ext cx="2651760" cy="91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264261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«IRequest&lt;bool&gt;»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28600" y="2807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UnlockAchievementCommand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91256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209544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UserId: Guid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56032" y="337413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AchievementId: Guid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6032" y="3538728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Context: AchievementContext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28600" y="3758184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1051560"/>
            <a:ext cx="265176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1051560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065A82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0" y="1508760"/>
            <a:ext cx="265176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3246120" y="10881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«IRequestHandler&lt;AssignPointsCommand,bool&gt;»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246120" y="1252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AssignPointsCommandHandler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46120" y="1636776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3552" y="1655064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_userRepo: IUserGamificationRepository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273552" y="181965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_ruleRepo: IGamificationRuleRepository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46120" y="2039112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3552" y="2057400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Handle(cmd, ct): Task&lt;bool&gt;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82880" y="3840480"/>
            <a:ext cx="265176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82880" y="3840480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1C7293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" y="4297680"/>
            <a:ext cx="265176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" y="38770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«IRequest&lt;UserRankingDto?&gt;»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28600" y="40416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GetUserRankingQuery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28600" y="4425696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4443984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UserId: Guid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56032" y="460857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Type: RankingType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28600" y="4828032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0" y="2971800"/>
            <a:ext cx="2651760" cy="1591056"/>
          </a:xfrm>
          <a:prstGeom prst="roundRect">
            <a:avLst>
              <a:gd name="adj" fmla="val 40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0" y="2971800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1C7293"/>
          </a:solidFill>
          <a:ln/>
        </p:spPr>
      </p:sp>
      <p:sp>
        <p:nvSpPr>
          <p:cNvPr id="47" name="Shape 45"/>
          <p:cNvSpPr/>
          <p:nvPr/>
        </p:nvSpPr>
        <p:spPr>
          <a:xfrm>
            <a:off x="3200400" y="3429000"/>
            <a:ext cx="265176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8" name="Text 46"/>
          <p:cNvSpPr/>
          <p:nvPr/>
        </p:nvSpPr>
        <p:spPr>
          <a:xfrm>
            <a:off x="3246120" y="300837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«IRequestHandler (multiple)»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246120" y="3172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RankingQueryHandlers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46120" y="3557016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73552" y="3575304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_rankingRepo: IRankingRepository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273552" y="373989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_cache: IRankingCache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246120" y="3959352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73552" y="3977640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Handle(GetUserRankingQuery, ct)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3273552" y="4142232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Handle(GetTopRankingQuery, ct)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273552" y="4306824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Handle(GetUserAchievementsQuery, ct)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400800" y="1051560"/>
            <a:ext cx="256032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400800" y="1051560"/>
            <a:ext cx="2560320" cy="548640"/>
          </a:xfrm>
          <a:prstGeom prst="roundRect">
            <a:avLst>
              <a:gd name="adj" fmla="val 11667"/>
            </a:avLst>
          </a:prstGeom>
          <a:solidFill>
            <a:srgbClr val="028090"/>
          </a:solidFill>
          <a:ln/>
        </p:spPr>
      </p:sp>
      <p:sp>
        <p:nvSpPr>
          <p:cNvPr id="59" name="Shape 57"/>
          <p:cNvSpPr/>
          <p:nvPr/>
        </p:nvSpPr>
        <p:spPr>
          <a:xfrm>
            <a:off x="6400800" y="1508760"/>
            <a:ext cx="25603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0" name="Text 58"/>
          <p:cNvSpPr/>
          <p:nvPr/>
        </p:nvSpPr>
        <p:spPr>
          <a:xfrm>
            <a:off x="6446520" y="108813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«DTO»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446520" y="1252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UserRankingDto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446520" y="1636776"/>
            <a:ext cx="2468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73952" y="165506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UserId: Guid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473952" y="181965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Position: int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473952" y="198424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Score: decimal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446520" y="2203704"/>
            <a:ext cx="2468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00800" y="2377440"/>
            <a:ext cx="2560320" cy="1591056"/>
          </a:xfrm>
          <a:prstGeom prst="roundRect">
            <a:avLst>
              <a:gd name="adj" fmla="val 40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6400800" y="2377440"/>
            <a:ext cx="2560320" cy="548640"/>
          </a:xfrm>
          <a:prstGeom prst="roundRect">
            <a:avLst>
              <a:gd name="adj" fmla="val 11667"/>
            </a:avLst>
          </a:prstGeom>
          <a:solidFill>
            <a:srgbClr val="6D2E46"/>
          </a:solidFill>
          <a:ln/>
        </p:spPr>
      </p:sp>
      <p:sp>
        <p:nvSpPr>
          <p:cNvPr id="69" name="Shape 67"/>
          <p:cNvSpPr/>
          <p:nvPr/>
        </p:nvSpPr>
        <p:spPr>
          <a:xfrm>
            <a:off x="6400800" y="2834640"/>
            <a:ext cx="2560320" cy="914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70" name="Text 68"/>
          <p:cNvSpPr/>
          <p:nvPr/>
        </p:nvSpPr>
        <p:spPr>
          <a:xfrm>
            <a:off x="6446520" y="241401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«DTO»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446520" y="25786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AchievementDto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446520" y="2962656"/>
            <a:ext cx="2468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73952" y="298094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Id: Guid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473952" y="314553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Name: string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6473952" y="331012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Description: string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6473952" y="3474720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ImageUrl: string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6473952" y="363931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UnlockedAt: DateTime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446520" y="3858768"/>
            <a:ext cx="2468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34640" y="1645920"/>
            <a:ext cx="365760" cy="0"/>
          </a:xfrm>
          <a:prstGeom prst="line">
            <a:avLst/>
          </a:prstGeom>
          <a:noFill/>
          <a:ln w="12700">
            <a:solidFill>
              <a:srgbClr val="065A8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852928" y="1508760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834640" y="4114800"/>
            <a:ext cx="36576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852928" y="3977640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5852160" y="1828800"/>
            <a:ext cx="54864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dash"/>
          </a:ln>
        </p:spPr>
      </p:sp>
      <p:sp>
        <p:nvSpPr>
          <p:cNvPr id="84" name="Text 82"/>
          <p:cNvSpPr/>
          <p:nvPr/>
        </p:nvSpPr>
        <p:spPr>
          <a:xfrm>
            <a:off x="5870448" y="1664208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→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— Diagrama de Clases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69848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Aggregates (3)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57400" y="1115568"/>
            <a:ext cx="0" cy="4114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1078992"/>
            <a:ext cx="6537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UserGamification (root principal), AchievementDefinition, Ranking. Extienden AggregateRoot con soporte para Domain Events.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783080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847088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Entities (7)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57400" y="1892808"/>
            <a:ext cx="0" cy="4114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856232"/>
            <a:ext cx="6537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base + PointTransaction, LevelDefinition, UserAchievement, UserLevelHistory, WeeklyActivity, GamificationRule, RankingEntry.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560320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624328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Objects (11)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57400" y="2670048"/>
            <a:ext cx="0" cy="4114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633472"/>
            <a:ext cx="6537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UserId, DateRange, UserActionStat, ReputationScore, SubjectCode, IdempotencyKey, CriteriaConfig, EventDescription, AchievementContext, UserRankingData.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337560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401568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Ports &amp; Adapters (6)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57400" y="3447288"/>
            <a:ext cx="0" cy="4114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94560" y="3410712"/>
            <a:ext cx="6537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IUserGamificationRepo, IAchievementDefRepo, IGamificationRuleRepo, IRankingRepo, IRankingCache, IRabbitMqProducer → sus implementaciones en Infrastructure.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114800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4178808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CQRS (8 clases)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57400" y="4224528"/>
            <a:ext cx="0" cy="4114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4560" y="4187952"/>
            <a:ext cx="6537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Commands + 3 Queries + AssignPointsCommandHandler + RankingQueryHandlers + DTOs de respuesta (UserRankingDto, AchievementDto).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Service — Diagrama de Clases (Domain, Application, Infrastructure)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 de Clases</dc:title>
  <dc:subject>PptxGenJS Presentation</dc:subject>
  <dc:creator>PptxGenJS</dc:creator>
  <cp:lastModifiedBy>PptxGenJS</cp:lastModifiedBy>
  <cp:revision>1</cp:revision>
  <dcterms:created xsi:type="dcterms:W3CDTF">2026-06-13T00:41:38Z</dcterms:created>
  <dcterms:modified xsi:type="dcterms:W3CDTF">2026-06-13T00:41:38Z</dcterms:modified>
</cp:coreProperties>
</file>