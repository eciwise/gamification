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título. El Diagrama de Contenedores C4 (Nivel 2) explota el sistema en sus contenedores: aplicaciones, bases de datos, colas,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tiene 4 contenedores principales: API (negocio), PostgreSQL (datos), Redis (cache), RabbitMQ (mensajería asincrónica).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contenedor API es el punto de entrada. Orquesta controllers, DI y background services. Swagger documenta la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tiene 12 tablas. user_gamification es el agregado raíz. outbox y processed_events implementan el patrón Outbox e idempotencia.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 cachea rankings pre-calculados. RabbitMQ desacopla el consumo de eventos externos y la publicación de eventos de dominio via Outbox.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muestra los 4 contenedores interactuando. Los Workers y la API comparten la misma base de código pero tienen roles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contenedores conforman el Gamification Service. Cada uno tiene responsabilidad clara y usa tecnología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Contenedores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 — Nivel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•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tecnologías y procesos componen el Gamification Service?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contenedor en C4 es una unidad ejecutable o almacenable que contribuye al sistema. Puede ser una aplicación, una base de datos, una cola de mensajes, etc.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6052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176272"/>
            <a:ext cx="416052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65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Container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322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[.NET 10 / ASP.NET Core]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endpoints REST. Punto de entrada HTTP al sistema.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92024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920240"/>
            <a:ext cx="4160520" cy="347472"/>
          </a:xfrm>
          <a:prstGeom prst="roundRect">
            <a:avLst>
              <a:gd name="adj" fmla="val 26316"/>
            </a:avLst>
          </a:prstGeom>
          <a:solidFill>
            <a:srgbClr val="336791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2176272"/>
            <a:ext cx="4160520" cy="914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965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2322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[PostgreSQL 15]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25420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relacional. Almacena toda la información persistente.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4160520" cy="347472"/>
          </a:xfrm>
          <a:prstGeom prst="roundRect">
            <a:avLst>
              <a:gd name="adj" fmla="val 26316"/>
            </a:avLst>
          </a:prstGeom>
          <a:solidFill>
            <a:srgbClr val="CC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639312"/>
            <a:ext cx="416052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429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[Redis 7 Alpine]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40050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distribuido de rankings. TTL 10 minutos.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3832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383280"/>
            <a:ext cx="4160520" cy="347472"/>
          </a:xfrm>
          <a:prstGeom prst="roundRect">
            <a:avLst>
              <a:gd name="adj" fmla="val 26316"/>
            </a:avLst>
          </a:prstGeom>
          <a:solidFill>
            <a:srgbClr val="FF66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3639312"/>
            <a:ext cx="41605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3429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Broker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3785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[RabbitMQ 3.12]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0328" y="40050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 mensajes. Entrada de eventos y salida de dominio.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 API (Gamification.Api)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HTTP — ASP.NET Core .NET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749040"/>
          </a:xfrm>
          <a:prstGeom prst="roundRect">
            <a:avLst>
              <a:gd name="adj" fmla="val 2927"/>
            </a:avLst>
          </a:prstGeom>
          <a:solidFill>
            <a:srgbClr val="EAF4F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[Container: .NET 10 / ASP.NET Core]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Gamification.Api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7452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1874520"/>
            <a:ext cx="9144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GamificationController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91640" y="194767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/api/gamification/users/{id}/ranking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/api/gamification/users/{id}/achievements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060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2606040"/>
            <a:ext cx="9144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67919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(Reglas de gamificación activas)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33756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33756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1508760" y="3337560"/>
            <a:ext cx="9144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(DI)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341071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servicios, middleware,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DB init, Background services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0690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0690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4069080"/>
            <a:ext cx="91440" cy="65836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91640" y="414223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RabbitMqConsumer, OutboxWorker,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RankingJob (hosted services)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636008"/>
            <a:ext cx="4754880" cy="164592"/>
          </a:xfrm>
          <a:prstGeom prst="roundRect">
            <a:avLst>
              <a:gd name="adj" fmla="val 27778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36008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disponible en /swagger/index.html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109728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69280" y="1600200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1627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Recibe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15000" y="1810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 desde clientes (Estudiantes, Tutores, Admin)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69280" y="2093976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21214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Envía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23042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Comandos/Queries a Application Layer via MediatR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0" y="2587752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5715000" y="26151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Usa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15000" y="27980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EF Core (Infrastructure)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69280" y="3081528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42" name="Text 40"/>
          <p:cNvSpPr/>
          <p:nvPr/>
        </p:nvSpPr>
        <p:spPr>
          <a:xfrm>
            <a:off x="5715000" y="3108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Usa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15000" y="32918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para ranking cache (IRankingCache)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69280" y="3575304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36027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Consume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15000" y="37856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RabbitMQ (gamification_events_queue)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0" y="4069080"/>
            <a:ext cx="3108960" cy="438912"/>
          </a:xfrm>
          <a:prstGeom prst="roundRect">
            <a:avLst>
              <a:gd name="adj" fmla="val 14583"/>
            </a:avLst>
          </a:prstGeom>
          <a:solidFill>
            <a:srgbClr val="EAF4FB"/>
          </a:solidFill>
          <a:ln/>
        </p:spPr>
      </p:sp>
      <p:sp>
        <p:nvSpPr>
          <p:cNvPr id="48" name="Text 46"/>
          <p:cNvSpPr/>
          <p:nvPr/>
        </p:nvSpPr>
        <p:spPr>
          <a:xfrm>
            <a:off x="5715000" y="40965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15000" y="4279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dominio via OutboxWorker → RabbitMQ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 PostgreSQL 15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— Almacenamiento persistente del sistema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61872"/>
            <a:ext cx="2743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247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user_gamification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root: userId, totalPoints, currentLevel, reputationScore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55448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 (Guid)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09728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261872"/>
            <a:ext cx="2743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182112" y="11247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point_transactions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82112" y="13533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puntos: userId, points, actionType, sourceEventId, idempotencyKey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82112" y="155448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 | FK: userId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09728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1261872"/>
            <a:ext cx="2743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11247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level_definitions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35331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niveles: name, minPoints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16752" y="155448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173736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73736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1901952"/>
            <a:ext cx="2743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176479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achievement_definitions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199339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logros: name, description, strategyKey, criteriaConfig, isActive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7472" y="219456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108960" y="173736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173736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/>
        </p:spPr>
      </p:sp>
      <p:sp>
        <p:nvSpPr>
          <p:cNvPr id="31" name="Shape 29"/>
          <p:cNvSpPr/>
          <p:nvPr/>
        </p:nvSpPr>
        <p:spPr>
          <a:xfrm>
            <a:off x="3108960" y="1901952"/>
            <a:ext cx="2743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3182112" y="176479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user_achievements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82112" y="199339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desbloqueados por usuario: userId, achievementId, unlockedAt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82112" y="219456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userId, achievementId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943600" y="173736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173736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1901952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016752" y="176479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16752" y="199339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calculados: type, period (start/end), subjectCode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16752" y="219456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37744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320" y="2542032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24048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ranking_entries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7472" y="263347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del ranking: userId, position, score, computedAt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47472" y="283464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rankingId, userId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10896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08960" y="237744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3108960" y="2542032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24048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gamification_rules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182112" y="263347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actionType, pointsAwarded, isActive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182112" y="283464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94360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43600" y="237744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5943600" y="2542032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016752" y="24048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16752" y="263347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pattern: eventType, payload, processedAt, retryCount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16752" y="283464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74320" y="301752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74320" y="301752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28090"/>
          </a:solidFill>
          <a:ln/>
        </p:spPr>
      </p:sp>
      <p:sp>
        <p:nvSpPr>
          <p:cNvPr id="61" name="Shape 59"/>
          <p:cNvSpPr/>
          <p:nvPr/>
        </p:nvSpPr>
        <p:spPr>
          <a:xfrm>
            <a:off x="274320" y="3182112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2" name="Text 60"/>
          <p:cNvSpPr/>
          <p:nvPr/>
        </p:nvSpPr>
        <p:spPr>
          <a:xfrm>
            <a:off x="347472" y="30449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processed_events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47472" y="32735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Idempotencia: eventId (idempotencyKey) ya procesados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47472" y="347472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eventId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0" y="301752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108960" y="301752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28090"/>
          </a:solidFill>
          <a:ln/>
        </p:spPr>
      </p:sp>
      <p:sp>
        <p:nvSpPr>
          <p:cNvPr id="67" name="Shape 65"/>
          <p:cNvSpPr/>
          <p:nvPr/>
        </p:nvSpPr>
        <p:spPr>
          <a:xfrm>
            <a:off x="3108960" y="3182112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8" name="Text 66"/>
          <p:cNvSpPr/>
          <p:nvPr/>
        </p:nvSpPr>
        <p:spPr>
          <a:xfrm>
            <a:off x="3182112" y="30449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user_action_stats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182112" y="32735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user_gamification: actionType, count, lastUpdated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182112" y="347472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userId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943600" y="301752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943600" y="3017520"/>
            <a:ext cx="2743200" cy="237744"/>
          </a:xfrm>
          <a:prstGeom prst="roundRect">
            <a:avLst>
              <a:gd name="adj" fmla="val 26923"/>
            </a:avLst>
          </a:prstGeom>
          <a:solidFill>
            <a:srgbClr val="028090"/>
          </a:solidFill>
          <a:ln/>
        </p:spPr>
      </p:sp>
      <p:sp>
        <p:nvSpPr>
          <p:cNvPr id="73" name="Shape 71"/>
          <p:cNvSpPr/>
          <p:nvPr/>
        </p:nvSpPr>
        <p:spPr>
          <a:xfrm>
            <a:off x="5943600" y="3182112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4" name="Text 72"/>
          <p:cNvSpPr/>
          <p:nvPr/>
        </p:nvSpPr>
        <p:spPr>
          <a:xfrm>
            <a:off x="6016752" y="30449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user_level_history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016752" y="32735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niveles: userId, level, pointsAtThatMoment, achievedAt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016752" y="3474720"/>
            <a:ext cx="259689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userId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Contenedores: Redis &amp; RabbitMQ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distribuido y broker de mensajes asincrónicos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17320"/>
            <a:ext cx="4114800" cy="137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— Cache Distribuido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190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190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StackExchange.Redis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762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1762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33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clave: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26334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ranking:{type}[:{subjectCode}]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906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30906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5478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IRankingCache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9776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050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40050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RedisRankingCache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462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Operaciones: GetTopRankingsAsync | SetTopRankingsAsync | InvalidateRankingAsync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972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66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417320"/>
            <a:ext cx="41148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3.12 — Message Broker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16916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17190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entrada: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1719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gamification_events_queue (durable)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21488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21762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entrante: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21762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LessonCompleted → AssignPointsCommand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26060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26334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salientes: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37960" y="26334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PointsAdded, AchievementUnlocked,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LevelUp, LowRatingAlert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92040" y="30632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0906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37960" y="30906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(retry hasta 5 veces)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92040" y="3520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35478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35478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 (BackgroundService)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92040" y="39776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40050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37960" y="4005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RabbitMqProducer (IRabbitMqProducer)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92040" y="4462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UI disponible en puerto 15672 (guest/guest)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Contenedores — Diagrama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entre contenedores del Gamification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051560"/>
            <a:ext cx="5852160" cy="3749040"/>
          </a:xfrm>
          <a:prstGeom prst="roundRect">
            <a:avLst>
              <a:gd name="adj" fmla="val 3659"/>
            </a:avLst>
          </a:prstGeom>
          <a:solidFill>
            <a:srgbClr val="F0F9FF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0789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(Boundary)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3716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417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[Container]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20240" y="1627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Background 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17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 Services]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1627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OutboxWorker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RankingJob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2103120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320040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 Container]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63240" y="2834640"/>
            <a:ext cx="0" cy="36576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2926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/ SQL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[Cache Container]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2834640"/>
            <a:ext cx="0" cy="36576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2926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44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" y="2148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" y="24871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[External]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08760" y="2103120"/>
            <a:ext cx="41148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27048" y="1920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26680" y="1874520"/>
            <a:ext cx="11887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26680" y="18745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(Actores)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86600" y="2240280"/>
            <a:ext cx="6400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029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Contenedores C4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612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234440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7043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Container: ASP.NET Core expone REST endpoints + Background Services (RabbitMqConsumer, OutboxWorker, RankingJob)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299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2103120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03911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15: 12 tablas, fuente de verdad, implementa Outbox Pattern e Idempotencia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9864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971800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90779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7: Cache de rankings con TTL 10min. Reduce carga a la base de datos en lecturas frecuentes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673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3840480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7764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3.12: Broker que desacopla eventos entrantes (LessonCompleted) y salientes (dominio)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Diagrama de Contenedores C4 (Nivel 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C4 - Diagrama de Contenedores</dc:title>
  <dc:subject>PptxGenJS Presentation</dc:subject>
  <dc:creator>PptxGenJS</dc:creator>
  <cp:lastModifiedBy>PptxGenJS</cp:lastModifiedBy>
  <cp:revision>1</cp:revision>
  <dcterms:created xsi:type="dcterms:W3CDTF">2026-06-13T00:41:37Z</dcterms:created>
  <dcterms:modified xsi:type="dcterms:W3CDTF">2026-06-13T00:41:37Z</dcterms:modified>
</cp:coreProperties>
</file>